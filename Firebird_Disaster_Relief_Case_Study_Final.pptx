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4" r:id="rId6"/>
    <p:sldId id="260" r:id="rId7"/>
    <p:sldId id="261" r:id="rId8"/>
    <p:sldId id="262" r:id="rId9"/>
    <p:sldId id="265" r:id="rId10"/>
    <p:sldId id="263" r:id="rId11"/>
    <p:sldId id="266" r:id="rId12"/>
    <p:sldId id="267"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694189-764D-539D-7321-828868D68BBA}">
          <p14:sldIdLst>
            <p14:sldId id="256"/>
          </p14:sldIdLst>
        </p14:section>
        <p14:section name="A - Concepts" id="{DBECC6D8-C9F5-4383-67E5-8A448FB38937}">
          <p14:sldIdLst>
            <p14:sldId id="257"/>
            <p14:sldId id="258"/>
            <p14:sldId id="259"/>
            <p14:sldId id="264"/>
            <p14:sldId id="260"/>
          </p14:sldIdLst>
        </p14:section>
        <p14:section name="B - Critical Analysis" id="{FE4CFC83-B925-F79B-3810-E2C563752DA4}">
          <p14:sldIdLst>
            <p14:sldId id="261"/>
            <p14:sldId id="262"/>
          </p14:sldIdLst>
        </p14:section>
        <p14:section name="C - Applications" id="{E3EB98A2-0FB4-CCE0-35A9-D5AE7317225E}">
          <p14:sldIdLst/>
        </p14:section>
        <p14:section name="D - Our Implementation" id="{F9DF0E90-77EE-5499-C2EF-0E28FB4CCD10}">
          <p14:sldIdLst>
            <p14:sldId id="265"/>
            <p14:sldId id="263"/>
            <p14:sldId id="266"/>
            <p14:sldId id="267"/>
          </p14:sldIdLst>
        </p14:section>
        <p14:section name="E - Wrap-up" id="{E253A5D1-AB6E-B588-0508-4C250D18346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918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Introduce the project and the three team members. Outline the talk: what Firebird is, how our disaster-relief database is built, then a live demonstration of our Python application connected to Firebird.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Firebird is an open-source relational database. It descends from InterBase: the InterBase 6 source code was released as open source in July 2000 and the Firebird project was forked from it. Firebird 1.0 followed in 2002, the same year the Firebird Foundation was incorporated. The Foundation raises funds for the volunteer developers; the code is under the Initial Developer's Public License, a variant of the Mozilla Public License 1.1. Firebird 5.0 is the current major release and 6.0 is in development.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Firebird is a relational SQL database: data lives in tables, and relationships are expressed with primary and foreign keys. It suits transactional workloads such as stock, orders and records. In our project, one DISASTER has many RELIEF_REQUESTs. The foreign key means the database itself refuses a request that points to a disaster that does not exist.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Four points. Modes: since Firebird 3 the server model is a configuration setting, and embedded mode runs the engine inside the application. Storage: the database is a file of pages with a versioned on-disk structure. Indexing: primary, unique and foreign keys get indexes automatically. Transactions: ACID, with multi-generational concurrency, meaning the engine keeps record versions so reading does not block writing.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Top: the eight tables and how they relate. A disaster has many relief requests; requests are made by an organization for a resource; each request can have deliveries; each delivery has delivery items that draw on inventory; and inventory records a resource held in a warehouse. Primary and foreign keys enforce all of these links.
Bottom: the architecture. A user works with our custom Python application, which connects directly to Firebird, which holds the disaster-relief tables. FlameRobin is a separate administration and inspection tool that also connects to Firebird; the application does not depend on it.
Before presenting, compare the diagram with the real tables in FlameRobin.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One line per feature. SQL and PSQL: SQL for data, PSQL for stored logic. Security: SRP authentication, privileges with GRANT and REVOKE, wire encryption, and database encryption through plug-ins. Backup: gbak for logical backup and restore. Integrity: constraints enforced by the engine. Procedures and triggers: logic that lives next to the data, which we show later. Integration: drivers for many languages, including Python, which our application uses.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Strengths: free, small, and the same engine runs embedded or as a server. Limitations: a smaller community and tool set than MySQL; long-running transactions delay cleanup of old record versions; schemas only arrive with Firebird 6.0.
Comparison: Firebird uses the Initial Developer's Public License; MySQL is dual-licensed by Oracle under GPL v2 or a commercial licence. Both use versioning for concurrency. MySQL dropped its embedded server library in 8.0, while Firebird still supports embedded use. Firebird 4.0 added built-in logical replication. Choose Firebird for a low-cost transactional system with little administration; choose MySQL where its larger ecosystem and hosting support matter.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Performance advice rather than benchmarks, because we did not measure any: index the columns you search and join on, keep transactions short, and read query plans. Firebird 5.0 can use parallel workers for backup and restore, sweep and index creation; they are switched off by default.
Roadmap: 4.0 brought built-in replication, 5.0 the parallel workers and the profiler. The official Firebird 6 roadmap, updated October 2026, lists schemas and tablespaces as complete, alpha planned for Q4 2026 and the final release for Q4 2027. The page itself says dates may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CRUD maps to four SQL statements: INSERT creates, SELECT reads, UPDATE changes and DELETE removes. The patterns are shown against the RELIEF_REQUEST table. A foreign key will also stop us deleting a row that other rows still depend on.
The join example lists each disaster together with its relief requests, matching the foreign key to the primary key. Our Python application demonstrates these operations live, so we keep the slide short.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These examples come from the "Who Uses Firebird?" chapter of Firebird's own enterprise whitepaper. The case study is Prague Municipal Library: about twenty applications over a single Firebird database of about 30 GB with 300 to 350 concurrent users in working hours. The whitepaper describes Firebird 1.5.2, so it is an old deployment and we use it only to show that Firebird handles shared multi-user workloads.
Link to our project: disaster relief is also transactional. Requests, stock and deliveries must stay consistent, which is what keys, constraints and triggers provide.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Indexes: an index lets the engine locate rows without scanning the whole table. Firebird already indexes primary, unique and foreign keys; extra indexes are for columns we search, join or sort on often. We check the query plan to see whether an index is used. We are not claiming measured speed-ups.
Views: a view stores a query and is used like a table. Our database has V_PENDING_REQUESTS, V_INVENTORY_SUMMARY and V_DELIVERY_SUMMARY, so common reports do not need to be rewritten.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UPDATE_REQUEST_STATUS is a stored procedure that changes the status of a relief request, so that logic lives in one place. BI_DELIVERY_ITEM_STOCK is a trigger on DELIVERY_ITEM: when a delivery item is inserted, it updates the matching inventory stock automatically.
Because both run inside Firebird, every client follows the same rules.
Cue: switch to the live Python application demonstration here, then return for the conclusion.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used for the claims in this deck: official Firebird documentation, release notes, licensing and roadmap pages, Firebird's enterprise whitepaper for the case study, and official MySQL documentation for the comparison. Roadmap dates were read from the official Firebird 6 roadmap page in October 2026 and may change.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1141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1141A"/>
        </a:solidFill>
        <a:effectLst/>
      </p:bgPr>
    </p:bg>
    <p:spTree>
      <p:nvGrpSpPr>
        <p:cNvPr id="1" name=""/>
        <p:cNvGrpSpPr/>
        <p:nvPr/>
      </p:nvGrpSpPr>
      <p:grpSpPr>
        <a:xfrm>
          <a:off x="0" y="0"/>
          <a:ext cx="0" cy="0"/>
          <a:chOff x="0" y="0"/>
          <a:chExt cx="0" cy="0"/>
        </a:xfrm>
      </p:grpSpPr>
      <p:sp>
        <p:nvSpPr>
          <p:cNvPr id="2" name="Text 0"/>
          <p:cNvSpPr/>
          <p:nvPr/>
        </p:nvSpPr>
        <p:spPr>
          <a:xfrm>
            <a:off x="457200" y="4791456"/>
            <a:ext cx="5486400" cy="228600"/>
          </a:xfrm>
          <a:prstGeom prst="rect">
            <a:avLst/>
          </a:prstGeom>
          <a:noFill/>
          <a:ln/>
        </p:spPr>
        <p:txBody>
          <a:bodyPr wrap="square" lIns="0" tIns="0" rIns="0" bIns="0" rtlCol="0" anchor="ctr"/>
          <a:lstStyle/>
          <a:p>
            <a:pPr marL="0" indent="0">
              <a:buNone/>
            </a:pPr>
            <a:r>
              <a:rPr lang="en-US" sz="1000" dirty="0">
                <a:solidFill>
                  <a:srgbClr val="7B8494"/>
                </a:solidFill>
              </a:rPr>
              <a:t>Disaster Relief DB  |  Firebird + FlameRobin</a:t>
            </a:r>
            <a:endParaRPr lang="en-US" sz="10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hyperlink" Target="https://www.firebirdsql.org/file/documentation/release_notes/html/en/4_0/rlsnotes40.html" TargetMode="External"/><Relationship Id="rId13" Type="http://schemas.openxmlformats.org/officeDocument/2006/relationships/hyperlink" Target="https://www.mysql.com/about/legal/licensing/oem/" TargetMode="External"/><Relationship Id="rId3" Type="http://schemas.openxmlformats.org/officeDocument/2006/relationships/hyperlink" Target="https://firebirdsql.org/en/firebird-foundation-retrospective/" TargetMode="External"/><Relationship Id="rId7" Type="http://schemas.openxmlformats.org/officeDocument/2006/relationships/hyperlink" Target="https://www.firebirdsql.org/file/documentation/release_notes/html/en/3_0/rlsnotes30.html" TargetMode="External"/><Relationship Id="rId12" Type="http://schemas.openxmlformats.org/officeDocument/2006/relationships/hyperlink" Target="https://firebirdsql.org/manual/gbak.html"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s://firebirdsql.org/en/licensing/" TargetMode="External"/><Relationship Id="rId11" Type="http://schemas.openxmlformats.org/officeDocument/2006/relationships/hyperlink" Target="https://firebirdsql.org/en/roadmap-v6/" TargetMode="External"/><Relationship Id="rId5" Type="http://schemas.openxmlformats.org/officeDocument/2006/relationships/hyperlink" Target="https://www.firebirdsql.org/file/documentation/papers_presentations/html/who-uses.html" TargetMode="External"/><Relationship Id="rId15" Type="http://schemas.openxmlformats.org/officeDocument/2006/relationships/hyperlink" Target="https://dev.mysql.com/blog-archive/mysql-8-0-retiring-support-for-libmysqld/" TargetMode="External"/><Relationship Id="rId10" Type="http://schemas.openxmlformats.org/officeDocument/2006/relationships/hyperlink" Target="https://firebirdsql.org/file/documentation/chunk/en/refdocs/fblangref50/fblangref50-ddl-table.html" TargetMode="External"/><Relationship Id="rId4" Type="http://schemas.openxmlformats.org/officeDocument/2006/relationships/hyperlink" Target="https://www.firebirdsql.org/file/documentation/papers_presentations/html/paper-fbent-history.html" TargetMode="External"/><Relationship Id="rId9" Type="http://schemas.openxmlformats.org/officeDocument/2006/relationships/hyperlink" Target="https://www.firebirdsql.org/file/documentation/release_notes/html/en/5_0/rlsnotes50.html" TargetMode="External"/><Relationship Id="rId14" Type="http://schemas.openxmlformats.org/officeDocument/2006/relationships/hyperlink" Target="https://dev.mysql.com/doc/refman/8.0/en/innodb-multi-version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48640"/>
            <a:ext cx="603504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COLLEGE CASE STUDY  |  TOOL: FLAMEROBIN</a:t>
            </a:r>
            <a:endParaRPr lang="en-US" sz="1200" dirty="0"/>
          </a:p>
        </p:txBody>
      </p:sp>
      <p:sp>
        <p:nvSpPr>
          <p:cNvPr id="3" name="Title"/>
          <p:cNvSpPr txBox="1"/>
          <p:nvPr/>
        </p:nvSpPr>
        <p:spPr>
          <a:xfrm>
            <a:off x="548640" y="1005840"/>
            <a:ext cx="6035040" cy="219456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Design and Implementation of a Disaster Relief Resource Management Database Using Firebird RDBMS</a:t>
            </a:r>
            <a:endParaRPr lang="en-US" sz="3200" dirty="0"/>
          </a:p>
        </p:txBody>
      </p:sp>
      <p:sp>
        <p:nvSpPr>
          <p:cNvPr id="5" name="Members placeholder"/>
          <p:cNvSpPr txBox="1"/>
          <p:nvPr/>
        </p:nvSpPr>
        <p:spPr>
          <a:xfrm>
            <a:off x="548640" y="3749040"/>
            <a:ext cx="6035040" cy="274320"/>
          </a:xfrm>
          <a:prstGeom prst="rect">
            <a:avLst/>
          </a:prstGeom>
          <a:noFill/>
          <a:ln/>
        </p:spPr>
        <p:txBody>
          <a:bodyPr wrap="square" lIns="0" tIns="0" rIns="0" bIns="0" rtlCol="0" anchor="ctr"/>
          <a:lstStyle/>
          <a:p>
            <a:pPr marL="0" indent="0">
              <a:buNone/>
            </a:pPr>
            <a:r>
              <a:rPr lang="en-US" sz="1400" dirty="0">
                <a:solidFill>
                  <a:schemeClr val="tx2"/>
                </a:solidFill>
              </a:rPr>
              <a:t>P Dheva Dharshan CSE25737</a:t>
            </a:r>
          </a:p>
          <a:p>
            <a:pPr marL="0" indent="0">
              <a:buNone/>
            </a:pPr>
            <a:r>
              <a:rPr lang="en-US" sz="1400" dirty="0">
                <a:solidFill>
                  <a:schemeClr val="tx2"/>
                </a:solidFill>
              </a:rPr>
              <a:t>Anirudh L CSE25706 </a:t>
            </a:r>
          </a:p>
          <a:p>
            <a:pPr marL="0" indent="0">
              <a:buNone/>
            </a:pPr>
            <a:r>
              <a:rPr lang="en-US" sz="1400" dirty="0" err="1">
                <a:solidFill>
                  <a:schemeClr val="tx2"/>
                </a:solidFill>
              </a:rPr>
              <a:t>Rithikeswaran</a:t>
            </a:r>
            <a:r>
              <a:rPr lang="en-US" sz="1400" dirty="0">
                <a:solidFill>
                  <a:schemeClr val="tx2"/>
                </a:solidFill>
              </a:rPr>
              <a:t> M CSE25746</a:t>
            </a:r>
            <a:endParaRPr lang="en-US" sz="1400" dirty="0"/>
          </a:p>
        </p:txBody>
      </p:sp>
      <p:sp>
        <p:nvSpPr>
          <p:cNvPr id="6" name="Flame circle"/>
          <p:cNvSpPr/>
          <p:nvPr/>
        </p:nvSpPr>
        <p:spPr>
          <a:xfrm>
            <a:off x="6903720" y="1325880"/>
            <a:ext cx="1737360" cy="1737360"/>
          </a:xfrm>
          <a:prstGeom prst="ellipse">
            <a:avLst/>
          </a:prstGeom>
          <a:solidFill>
            <a:schemeClr val="accent1"/>
          </a:solidFill>
          <a:ln w="12700">
            <a:solidFill>
              <a:schemeClr val="accent1"/>
            </a:solidFill>
            <a:prstDash val="solid"/>
          </a:ln>
        </p:spPr>
      </p:sp>
      <p:pic>
        <p:nvPicPr>
          <p:cNvPr id="7" name="Flame icon" descr="Flame icon"/>
          <p:cNvPicPr>
            <a:picLocks noChangeAspect="1"/>
          </p:cNvPicPr>
          <p:nvPr/>
        </p:nvPicPr>
        <p:blipFill>
          <a:blip r:embed="rId3"/>
          <a:stretch>
            <a:fillRect/>
          </a:stretch>
        </p:blipFill>
        <p:spPr>
          <a:xfrm>
            <a:off x="7360920" y="1783080"/>
            <a:ext cx="822960" cy="822960"/>
          </a:xfrm>
          <a:prstGeom prst="rect">
            <a:avLst/>
          </a:prstGeom>
        </p:spPr>
      </p:pic>
      <p:sp>
        <p:nvSpPr>
          <p:cNvPr id="8" name="Tagline"/>
          <p:cNvSpPr txBox="1"/>
          <p:nvPr/>
        </p:nvSpPr>
        <p:spPr>
          <a:xfrm>
            <a:off x="6492240" y="3246120"/>
            <a:ext cx="2560320" cy="274320"/>
          </a:xfrm>
          <a:prstGeom prst="rect">
            <a:avLst/>
          </a:prstGeom>
          <a:noFill/>
          <a:ln/>
        </p:spPr>
        <p:txBody>
          <a:bodyPr wrap="square" lIns="0" tIns="0" rIns="0" bIns="0" rtlCol="0" anchor="ctr"/>
          <a:lstStyle/>
          <a:p>
            <a:pPr marL="0" indent="0" algn="ctr">
              <a:buNone/>
            </a:pPr>
            <a:r>
              <a:rPr lang="en-US" sz="1200" dirty="0">
                <a:solidFill>
                  <a:schemeClr val="tx2"/>
                </a:solidFill>
              </a:rPr>
              <a:t>Firebird  |  FlameRobin  |  Python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Introduction: What Is Firebird?</a:t>
            </a:r>
            <a:endParaRPr lang="en-US" sz="3000" dirty="0"/>
          </a:p>
        </p:txBody>
      </p:sp>
      <p:sp>
        <p:nvSpPr>
          <p:cNvPr id="4" name="Definition"/>
          <p:cNvSpPr txBox="1"/>
          <p:nvPr/>
        </p:nvSpPr>
        <p:spPr>
          <a:xfrm>
            <a:off x="457200" y="1143000"/>
            <a:ext cx="8229600" cy="502920"/>
          </a:xfrm>
          <a:prstGeom prst="rect">
            <a:avLst/>
          </a:prstGeom>
          <a:noFill/>
          <a:ln/>
        </p:spPr>
        <p:txBody>
          <a:bodyPr wrap="square" lIns="0" tIns="0" rIns="0" bIns="0" rtlCol="0" anchor="ctr"/>
          <a:lstStyle/>
          <a:p>
            <a:pPr marL="0" indent="0">
              <a:buNone/>
            </a:pPr>
            <a:r>
              <a:rPr lang="en-US" sz="1500" dirty="0">
                <a:solidFill>
                  <a:schemeClr val="tx1"/>
                </a:solidFill>
              </a:rPr>
              <a:t>Firebird is a free, open-source relational database that runs as a server or embedded in an application.</a:t>
            </a:r>
            <a:endParaRPr lang="en-US" sz="1500" dirty="0"/>
          </a:p>
        </p:txBody>
      </p:sp>
      <p:sp>
        <p:nvSpPr>
          <p:cNvPr id="5" name="Timeline line"/>
          <p:cNvSpPr/>
          <p:nvPr/>
        </p:nvSpPr>
        <p:spPr>
          <a:xfrm>
            <a:off x="566928" y="1892808"/>
            <a:ext cx="8010144" cy="0"/>
          </a:xfrm>
          <a:prstGeom prst="line">
            <a:avLst/>
          </a:prstGeom>
          <a:noFill/>
          <a:ln w="12700">
            <a:solidFill>
              <a:schemeClr val="tx2"/>
            </a:solidFill>
            <a:prstDash val="solid"/>
          </a:ln>
        </p:spPr>
      </p:sp>
      <p:sp>
        <p:nvSpPr>
          <p:cNvPr id="6" name="Timeline node 1"/>
          <p:cNvSpPr/>
          <p:nvPr/>
        </p:nvSpPr>
        <p:spPr>
          <a:xfrm>
            <a:off x="457200" y="1783080"/>
            <a:ext cx="219456" cy="219456"/>
          </a:xfrm>
          <a:prstGeom prst="ellipse">
            <a:avLst/>
          </a:prstGeom>
          <a:solidFill>
            <a:schemeClr val="accent1"/>
          </a:solidFill>
          <a:ln w="25400">
            <a:solidFill>
              <a:schemeClr val="bg1"/>
            </a:solidFill>
            <a:prstDash val="solid"/>
          </a:ln>
        </p:spPr>
      </p:sp>
      <p:sp>
        <p:nvSpPr>
          <p:cNvPr id="7" name="Timeline year 1"/>
          <p:cNvSpPr txBox="1"/>
          <p:nvPr/>
        </p:nvSpPr>
        <p:spPr>
          <a:xfrm>
            <a:off x="457200" y="2103120"/>
            <a:ext cx="1920240" cy="274320"/>
          </a:xfrm>
          <a:prstGeom prst="rect">
            <a:avLst/>
          </a:prstGeom>
          <a:noFill/>
          <a:ln/>
        </p:spPr>
        <p:txBody>
          <a:bodyPr wrap="square" lIns="0" tIns="0" rIns="0" bIns="0" rtlCol="0" anchor="ctr"/>
          <a:lstStyle/>
          <a:p>
            <a:pPr marL="0" indent="0">
              <a:buNone/>
            </a:pPr>
            <a:r>
              <a:rPr lang="en-US" sz="1600" b="1" dirty="0">
                <a:solidFill>
                  <a:schemeClr val="accent2"/>
                </a:solidFill>
              </a:rPr>
              <a:t>1985</a:t>
            </a:r>
            <a:endParaRPr lang="en-US" sz="1600" dirty="0"/>
          </a:p>
        </p:txBody>
      </p:sp>
      <p:sp>
        <p:nvSpPr>
          <p:cNvPr id="8" name="Timeline text 1"/>
          <p:cNvSpPr txBox="1"/>
          <p:nvPr/>
        </p:nvSpPr>
        <p:spPr>
          <a:xfrm>
            <a:off x="457200" y="2395728"/>
            <a:ext cx="1920240" cy="731520"/>
          </a:xfrm>
          <a:prstGeom prst="rect">
            <a:avLst/>
          </a:prstGeom>
          <a:noFill/>
          <a:ln/>
        </p:spPr>
        <p:txBody>
          <a:bodyPr wrap="square" lIns="0" tIns="0" rIns="0" bIns="0" rtlCol="0" anchor="t"/>
          <a:lstStyle/>
          <a:p>
            <a:pPr marL="0" indent="0">
              <a:buNone/>
            </a:pPr>
            <a:r>
              <a:rPr lang="en-US" sz="1300" dirty="0">
                <a:solidFill>
                  <a:schemeClr val="tx1"/>
                </a:solidFill>
              </a:rPr>
              <a:t>InterBase, Firebird's ancestor, begins</a:t>
            </a:r>
            <a:endParaRPr lang="en-US" sz="1300" dirty="0"/>
          </a:p>
        </p:txBody>
      </p:sp>
      <p:sp>
        <p:nvSpPr>
          <p:cNvPr id="9" name="Timeline node 2"/>
          <p:cNvSpPr/>
          <p:nvPr/>
        </p:nvSpPr>
        <p:spPr>
          <a:xfrm>
            <a:off x="2560320" y="1783080"/>
            <a:ext cx="219456" cy="219456"/>
          </a:xfrm>
          <a:prstGeom prst="ellipse">
            <a:avLst/>
          </a:prstGeom>
          <a:solidFill>
            <a:schemeClr val="accent1"/>
          </a:solidFill>
          <a:ln w="25400">
            <a:solidFill>
              <a:schemeClr val="bg1"/>
            </a:solidFill>
            <a:prstDash val="solid"/>
          </a:ln>
        </p:spPr>
      </p:sp>
      <p:sp>
        <p:nvSpPr>
          <p:cNvPr id="10" name="Timeline year 2"/>
          <p:cNvSpPr txBox="1"/>
          <p:nvPr/>
        </p:nvSpPr>
        <p:spPr>
          <a:xfrm>
            <a:off x="2560320" y="2103120"/>
            <a:ext cx="1920240" cy="274320"/>
          </a:xfrm>
          <a:prstGeom prst="rect">
            <a:avLst/>
          </a:prstGeom>
          <a:noFill/>
          <a:ln/>
        </p:spPr>
        <p:txBody>
          <a:bodyPr wrap="square" lIns="0" tIns="0" rIns="0" bIns="0" rtlCol="0" anchor="ctr"/>
          <a:lstStyle/>
          <a:p>
            <a:pPr marL="0" indent="0">
              <a:buNone/>
            </a:pPr>
            <a:r>
              <a:rPr lang="en-US" sz="1600" b="1" dirty="0">
                <a:solidFill>
                  <a:schemeClr val="accent2"/>
                </a:solidFill>
              </a:rPr>
              <a:t>Jul 2000</a:t>
            </a:r>
            <a:endParaRPr lang="en-US" sz="1600" dirty="0"/>
          </a:p>
        </p:txBody>
      </p:sp>
      <p:sp>
        <p:nvSpPr>
          <p:cNvPr id="11" name="Timeline text 2"/>
          <p:cNvSpPr txBox="1"/>
          <p:nvPr/>
        </p:nvSpPr>
        <p:spPr>
          <a:xfrm>
            <a:off x="2560320" y="2395728"/>
            <a:ext cx="1920240" cy="731520"/>
          </a:xfrm>
          <a:prstGeom prst="rect">
            <a:avLst/>
          </a:prstGeom>
          <a:noFill/>
          <a:ln/>
        </p:spPr>
        <p:txBody>
          <a:bodyPr wrap="square" lIns="0" tIns="0" rIns="0" bIns="0" rtlCol="0" anchor="t"/>
          <a:lstStyle/>
          <a:p>
            <a:pPr marL="0" indent="0">
              <a:buNone/>
            </a:pPr>
            <a:r>
              <a:rPr lang="en-US" sz="1300" dirty="0">
                <a:solidFill>
                  <a:schemeClr val="tx1"/>
                </a:solidFill>
              </a:rPr>
              <a:t>InterBase 6 source released as open source; Firebird project starts</a:t>
            </a:r>
            <a:endParaRPr lang="en-US" sz="1300" dirty="0"/>
          </a:p>
        </p:txBody>
      </p:sp>
      <p:sp>
        <p:nvSpPr>
          <p:cNvPr id="12" name="Timeline node 3"/>
          <p:cNvSpPr/>
          <p:nvPr/>
        </p:nvSpPr>
        <p:spPr>
          <a:xfrm>
            <a:off x="4663440" y="1783080"/>
            <a:ext cx="219456" cy="219456"/>
          </a:xfrm>
          <a:prstGeom prst="ellipse">
            <a:avLst/>
          </a:prstGeom>
          <a:solidFill>
            <a:schemeClr val="accent1"/>
          </a:solidFill>
          <a:ln w="25400">
            <a:solidFill>
              <a:schemeClr val="bg1"/>
            </a:solidFill>
            <a:prstDash val="solid"/>
          </a:ln>
        </p:spPr>
      </p:sp>
      <p:sp>
        <p:nvSpPr>
          <p:cNvPr id="13" name="Timeline year 3"/>
          <p:cNvSpPr txBox="1"/>
          <p:nvPr/>
        </p:nvSpPr>
        <p:spPr>
          <a:xfrm>
            <a:off x="4663440" y="2103120"/>
            <a:ext cx="1920240" cy="274320"/>
          </a:xfrm>
          <a:prstGeom prst="rect">
            <a:avLst/>
          </a:prstGeom>
          <a:noFill/>
          <a:ln/>
        </p:spPr>
        <p:txBody>
          <a:bodyPr wrap="square" lIns="0" tIns="0" rIns="0" bIns="0" rtlCol="0" anchor="ctr"/>
          <a:lstStyle/>
          <a:p>
            <a:pPr marL="0" indent="0">
              <a:buNone/>
            </a:pPr>
            <a:r>
              <a:rPr lang="en-US" sz="1600" b="1" dirty="0">
                <a:solidFill>
                  <a:schemeClr val="accent2"/>
                </a:solidFill>
              </a:rPr>
              <a:t>2002</a:t>
            </a:r>
            <a:endParaRPr lang="en-US" sz="1600" dirty="0"/>
          </a:p>
        </p:txBody>
      </p:sp>
      <p:sp>
        <p:nvSpPr>
          <p:cNvPr id="14" name="Timeline text 3"/>
          <p:cNvSpPr txBox="1"/>
          <p:nvPr/>
        </p:nvSpPr>
        <p:spPr>
          <a:xfrm>
            <a:off x="4663440" y="2395728"/>
            <a:ext cx="1920240" cy="731520"/>
          </a:xfrm>
          <a:prstGeom prst="rect">
            <a:avLst/>
          </a:prstGeom>
          <a:noFill/>
          <a:ln/>
        </p:spPr>
        <p:txBody>
          <a:bodyPr wrap="square" lIns="0" tIns="0" rIns="0" bIns="0" rtlCol="0" anchor="t"/>
          <a:lstStyle/>
          <a:p>
            <a:pPr marL="0" indent="0">
              <a:buNone/>
            </a:pPr>
            <a:r>
              <a:rPr lang="en-US" sz="1300" dirty="0">
                <a:solidFill>
                  <a:schemeClr val="tx1"/>
                </a:solidFill>
              </a:rPr>
              <a:t>Firebird 1.0 released; Firebird Foundation incorporated</a:t>
            </a:r>
            <a:endParaRPr lang="en-US" sz="1300" dirty="0"/>
          </a:p>
        </p:txBody>
      </p:sp>
      <p:sp>
        <p:nvSpPr>
          <p:cNvPr id="15" name="Timeline node 4"/>
          <p:cNvSpPr/>
          <p:nvPr/>
        </p:nvSpPr>
        <p:spPr>
          <a:xfrm>
            <a:off x="6766560" y="1783080"/>
            <a:ext cx="219456" cy="219456"/>
          </a:xfrm>
          <a:prstGeom prst="ellipse">
            <a:avLst/>
          </a:prstGeom>
          <a:solidFill>
            <a:schemeClr val="accent1"/>
          </a:solidFill>
          <a:ln w="25400">
            <a:solidFill>
              <a:schemeClr val="bg1"/>
            </a:solidFill>
            <a:prstDash val="solid"/>
          </a:ln>
        </p:spPr>
      </p:sp>
      <p:sp>
        <p:nvSpPr>
          <p:cNvPr id="16" name="Timeline year 4"/>
          <p:cNvSpPr txBox="1"/>
          <p:nvPr/>
        </p:nvSpPr>
        <p:spPr>
          <a:xfrm>
            <a:off x="6766560" y="2103120"/>
            <a:ext cx="1920240" cy="274320"/>
          </a:xfrm>
          <a:prstGeom prst="rect">
            <a:avLst/>
          </a:prstGeom>
          <a:noFill/>
          <a:ln/>
        </p:spPr>
        <p:txBody>
          <a:bodyPr wrap="square" lIns="0" tIns="0" rIns="0" bIns="0" rtlCol="0" anchor="ctr"/>
          <a:lstStyle/>
          <a:p>
            <a:pPr marL="0" indent="0">
              <a:buNone/>
            </a:pPr>
            <a:r>
              <a:rPr lang="en-US" sz="1600" b="1" dirty="0">
                <a:solidFill>
                  <a:schemeClr val="accent2"/>
                </a:solidFill>
              </a:rPr>
              <a:t>Today</a:t>
            </a:r>
            <a:endParaRPr lang="en-US" sz="1600" dirty="0"/>
          </a:p>
        </p:txBody>
      </p:sp>
      <p:sp>
        <p:nvSpPr>
          <p:cNvPr id="17" name="Timeline text 4"/>
          <p:cNvSpPr txBox="1"/>
          <p:nvPr/>
        </p:nvSpPr>
        <p:spPr>
          <a:xfrm>
            <a:off x="6766560" y="2395728"/>
            <a:ext cx="1920240" cy="731520"/>
          </a:xfrm>
          <a:prstGeom prst="rect">
            <a:avLst/>
          </a:prstGeom>
          <a:noFill/>
          <a:ln/>
        </p:spPr>
        <p:txBody>
          <a:bodyPr wrap="square" lIns="0" tIns="0" rIns="0" bIns="0" rtlCol="0" anchor="t"/>
          <a:lstStyle/>
          <a:p>
            <a:pPr marL="0" indent="0">
              <a:buNone/>
            </a:pPr>
            <a:r>
              <a:rPr lang="en-US" sz="1300" dirty="0">
                <a:solidFill>
                  <a:schemeClr val="tx1"/>
                </a:solidFill>
              </a:rPr>
              <a:t>Firebird 5.0 is the current major release; 6.0 is in development</a:t>
            </a:r>
            <a:endParaRPr lang="en-US" sz="1300" dirty="0"/>
          </a:p>
        </p:txBody>
      </p:sp>
      <p:sp>
        <p:nvSpPr>
          <p:cNvPr id="18" name="Governance card"/>
          <p:cNvSpPr txBox="1"/>
          <p:nvPr/>
        </p:nvSpPr>
        <p:spPr>
          <a:xfrm>
            <a:off x="457200" y="3246120"/>
            <a:ext cx="4023360" cy="1371600"/>
          </a:xfrm>
          <a:prstGeom prst="roundRect">
            <a:avLst>
              <a:gd name="adj" fmla="val 5333"/>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Ownership and licence</a:t>
            </a:r>
            <a:endParaRPr lang="en-US" sz="1400" dirty="0"/>
          </a:p>
          <a:p>
            <a:pPr marL="0" indent="0" algn="l">
              <a:buNone/>
            </a:pPr>
            <a:r>
              <a:rPr lang="en-US" sz="1200" dirty="0">
                <a:solidFill>
                  <a:schemeClr val="tx1"/>
                </a:solidFill>
              </a:rPr>
              <a:t>No company owns it. The open-source Firebird Project develops it, and the Firebird Foundation raises funds for its developers. Licence: Initial Developer's Public License, a variant of the Mozilla Public License.</a:t>
            </a:r>
            <a:endParaRPr lang="en-US" sz="1400" dirty="0"/>
          </a:p>
        </p:txBody>
      </p:sp>
      <p:sp>
        <p:nvSpPr>
          <p:cNvPr id="19" name="Relevance card"/>
          <p:cNvSpPr txBox="1"/>
          <p:nvPr/>
        </p:nvSpPr>
        <p:spPr>
          <a:xfrm>
            <a:off x="4663440" y="3246120"/>
            <a:ext cx="4023360" cy="1371600"/>
          </a:xfrm>
          <a:prstGeom prst="roundRect">
            <a:avLst>
              <a:gd name="adj" fmla="val 5333"/>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Real-world relevance</a:t>
            </a:r>
            <a:endParaRPr lang="en-US" sz="1400" dirty="0"/>
          </a:p>
          <a:p>
            <a:pPr marL="0" indent="0" algn="l">
              <a:buNone/>
            </a:pPr>
            <a:r>
              <a:rPr lang="en-US" sz="1200" dirty="0">
                <a:solidFill>
                  <a:schemeClr val="tx1"/>
                </a:solidFill>
              </a:rPr>
              <a:t>Firebird's own whitepaper lists users in transport, finance, healthcare and publishing. Its small footprint and embedded mode suit business applications.</a:t>
            </a:r>
            <a:endParaRPr lang="en-US" sz="1400" dirty="0"/>
          </a:p>
        </p:txBody>
      </p:sp>
      <p:sp>
        <p:nvSpPr>
          <p:cNvPr id="2" name="Rectangle 1">
            <a:extLst>
              <a:ext uri="{FF2B5EF4-FFF2-40B4-BE49-F238E27FC236}">
                <a16:creationId xmlns:a16="http://schemas.microsoft.com/office/drawing/2014/main" id="{8D95E242-CC0F-174E-9C69-3D91BCA54621}"/>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Database Type and Data Model</a:t>
            </a:r>
            <a:endParaRPr lang="en-US" sz="3000" dirty="0"/>
          </a:p>
        </p:txBody>
      </p:sp>
      <p:sp>
        <p:nvSpPr>
          <p:cNvPr id="4" name="Type card"/>
          <p:cNvSpPr txBox="1"/>
          <p:nvPr/>
        </p:nvSpPr>
        <p:spPr>
          <a:xfrm>
            <a:off x="457200" y="1188720"/>
            <a:ext cx="2651760" cy="1463040"/>
          </a:xfrm>
          <a:prstGeom prst="roundRect">
            <a:avLst>
              <a:gd name="adj" fmla="val 5000"/>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Relational (SQL)</a:t>
            </a:r>
            <a:endParaRPr lang="en-US" sz="1400" dirty="0"/>
          </a:p>
          <a:p>
            <a:pPr marL="0" indent="0" algn="l">
              <a:buNone/>
            </a:pPr>
            <a:r>
              <a:rPr lang="en-US" sz="1300" dirty="0">
                <a:solidFill>
                  <a:schemeClr val="tx1"/>
                </a:solidFill>
              </a:rPr>
              <a:t>Data is stored in tables of rows and columns and queried with SQL.</a:t>
            </a:r>
            <a:endParaRPr lang="en-US" sz="1400" dirty="0"/>
          </a:p>
        </p:txBody>
      </p:sp>
      <p:sp>
        <p:nvSpPr>
          <p:cNvPr id="5" name="Keys card"/>
          <p:cNvSpPr txBox="1"/>
          <p:nvPr/>
        </p:nvSpPr>
        <p:spPr>
          <a:xfrm>
            <a:off x="3246120" y="1188720"/>
            <a:ext cx="2651760" cy="1463040"/>
          </a:xfrm>
          <a:prstGeom prst="roundRect">
            <a:avLst>
              <a:gd name="adj" fmla="val 5000"/>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Keys and relations</a:t>
            </a:r>
            <a:endParaRPr lang="en-US" sz="1400" dirty="0"/>
          </a:p>
          <a:p>
            <a:pPr marL="0" indent="0" algn="l">
              <a:buNone/>
            </a:pPr>
            <a:r>
              <a:rPr lang="en-US" sz="1300" dirty="0">
                <a:solidFill>
                  <a:schemeClr val="tx1"/>
                </a:solidFill>
              </a:rPr>
              <a:t>A primary key identifies each row. A foreign key points to a row in another table.</a:t>
            </a:r>
            <a:endParaRPr lang="en-US" sz="1400" dirty="0"/>
          </a:p>
        </p:txBody>
      </p:sp>
      <p:sp>
        <p:nvSpPr>
          <p:cNvPr id="6" name="Suits card"/>
          <p:cNvSpPr txBox="1"/>
          <p:nvPr/>
        </p:nvSpPr>
        <p:spPr>
          <a:xfrm>
            <a:off x="6035040" y="1188720"/>
            <a:ext cx="2651760" cy="1463040"/>
          </a:xfrm>
          <a:prstGeom prst="roundRect">
            <a:avLst>
              <a:gd name="adj" fmla="val 5000"/>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Best suited for</a:t>
            </a:r>
            <a:endParaRPr lang="en-US" sz="1400" dirty="0"/>
          </a:p>
          <a:p>
            <a:pPr marL="0" indent="0" algn="l">
              <a:buNone/>
            </a:pPr>
            <a:r>
              <a:rPr lang="en-US" sz="1300" dirty="0">
                <a:solidFill>
                  <a:schemeClr val="tx1"/>
                </a:solidFill>
              </a:rPr>
              <a:t>Transactional systems: orders, stock, billing, records. Also embedded and small-server use.</a:t>
            </a:r>
            <a:endParaRPr lang="en-US" sz="1400" dirty="0"/>
          </a:p>
        </p:txBody>
      </p:sp>
      <p:sp>
        <p:nvSpPr>
          <p:cNvPr id="7" name="Pattern heading"/>
          <p:cNvSpPr txBox="1"/>
          <p:nvPr/>
        </p:nvSpPr>
        <p:spPr>
          <a:xfrm>
            <a:off x="457200" y="2880360"/>
            <a:ext cx="5486400" cy="274320"/>
          </a:xfrm>
          <a:prstGeom prst="rect">
            <a:avLst/>
          </a:prstGeom>
          <a:noFill/>
          <a:ln/>
        </p:spPr>
        <p:txBody>
          <a:bodyPr wrap="square" lIns="0" tIns="0" rIns="0" bIns="0" rtlCol="0" anchor="ctr"/>
          <a:lstStyle/>
          <a:p>
            <a:pPr marL="0" indent="0">
              <a:buNone/>
            </a:pPr>
            <a:r>
              <a:rPr lang="en-US" sz="1400" b="1" dirty="0">
                <a:solidFill>
                  <a:schemeClr val="accent2"/>
                </a:solidFill>
              </a:rPr>
              <a:t>In our project</a:t>
            </a:r>
            <a:endParaRPr lang="en-US" sz="1400" dirty="0"/>
          </a:p>
        </p:txBody>
      </p:sp>
      <p:sp>
        <p:nvSpPr>
          <p:cNvPr id="8" name="Parent table"/>
          <p:cNvSpPr txBox="1"/>
          <p:nvPr/>
        </p:nvSpPr>
        <p:spPr>
          <a:xfrm>
            <a:off x="457200" y="3291840"/>
            <a:ext cx="2377440" cy="822960"/>
          </a:xfrm>
          <a:prstGeom prst="roundRect">
            <a:avLst>
              <a:gd name="adj" fmla="val 6667"/>
            </a:avLst>
          </a:prstGeom>
          <a:solidFill>
            <a:schemeClr val="bg2"/>
          </a:solidFill>
          <a:ln w="12700">
            <a:solidFill>
              <a:schemeClr val="accent3"/>
            </a:solidFill>
          </a:ln>
        </p:spPr>
        <p:txBody>
          <a:bodyPr wrap="square" rtlCol="0" anchor="ctr"/>
          <a:lstStyle/>
          <a:p>
            <a:pPr marL="0" indent="0" algn="ctr">
              <a:buNone/>
            </a:pPr>
            <a:r>
              <a:rPr lang="en-US" sz="1300" dirty="0">
                <a:solidFill>
                  <a:schemeClr val="tx1"/>
                </a:solidFill>
              </a:rPr>
              <a:t>DISASTER</a:t>
            </a:r>
            <a:endParaRPr lang="en-US" sz="1300" dirty="0"/>
          </a:p>
          <a:p>
            <a:pPr marL="0" indent="0" algn="ctr">
              <a:buNone/>
            </a:pPr>
            <a:r>
              <a:rPr lang="en-US" sz="1300" dirty="0">
                <a:solidFill>
                  <a:schemeClr val="tx1"/>
                </a:solidFill>
              </a:rPr>
              <a:t>Primary key</a:t>
            </a:r>
            <a:endParaRPr lang="en-US" sz="1300" dirty="0"/>
          </a:p>
        </p:txBody>
      </p:sp>
      <p:sp>
        <p:nvSpPr>
          <p:cNvPr id="9" name="Relationship arrow"/>
          <p:cNvSpPr/>
          <p:nvPr/>
        </p:nvSpPr>
        <p:spPr>
          <a:xfrm>
            <a:off x="2834640" y="3703320"/>
            <a:ext cx="1097280" cy="0"/>
          </a:xfrm>
          <a:prstGeom prst="line">
            <a:avLst/>
          </a:prstGeom>
          <a:noFill/>
          <a:ln w="25400">
            <a:solidFill>
              <a:schemeClr val="accent1"/>
            </a:solidFill>
            <a:prstDash val="solid"/>
            <a:tailEnd type="triangle"/>
          </a:ln>
        </p:spPr>
      </p:sp>
      <p:sp>
        <p:nvSpPr>
          <p:cNvPr id="10" name="Cardinality"/>
          <p:cNvSpPr txBox="1"/>
          <p:nvPr/>
        </p:nvSpPr>
        <p:spPr>
          <a:xfrm>
            <a:off x="2834640" y="3383280"/>
            <a:ext cx="1097280" cy="274320"/>
          </a:xfrm>
          <a:prstGeom prst="rect">
            <a:avLst/>
          </a:prstGeom>
          <a:noFill/>
          <a:ln/>
        </p:spPr>
        <p:txBody>
          <a:bodyPr wrap="square" lIns="0" tIns="0" rIns="0" bIns="0" rtlCol="0" anchor="ctr"/>
          <a:lstStyle/>
          <a:p>
            <a:pPr marL="0" indent="0" algn="ctr">
              <a:buNone/>
            </a:pPr>
            <a:r>
              <a:rPr lang="en-US" sz="1200" b="1" dirty="0">
                <a:solidFill>
                  <a:schemeClr val="accent1"/>
                </a:solidFill>
              </a:rPr>
              <a:t>1 : N</a:t>
            </a:r>
            <a:endParaRPr lang="en-US" sz="1200" dirty="0"/>
          </a:p>
        </p:txBody>
      </p:sp>
      <p:sp>
        <p:nvSpPr>
          <p:cNvPr id="11" name="Child table"/>
          <p:cNvSpPr txBox="1"/>
          <p:nvPr/>
        </p:nvSpPr>
        <p:spPr>
          <a:xfrm>
            <a:off x="3931920" y="3291840"/>
            <a:ext cx="2377440" cy="822960"/>
          </a:xfrm>
          <a:prstGeom prst="roundRect">
            <a:avLst>
              <a:gd name="adj" fmla="val 6667"/>
            </a:avLst>
          </a:prstGeom>
          <a:solidFill>
            <a:schemeClr val="bg2"/>
          </a:solidFill>
          <a:ln w="12700">
            <a:solidFill>
              <a:schemeClr val="accent3"/>
            </a:solidFill>
          </a:ln>
        </p:spPr>
        <p:txBody>
          <a:bodyPr wrap="square" rtlCol="0" anchor="ctr"/>
          <a:lstStyle/>
          <a:p>
            <a:pPr marL="0" indent="0" algn="ctr">
              <a:buNone/>
            </a:pPr>
            <a:r>
              <a:rPr lang="en-US" sz="1300" dirty="0">
                <a:solidFill>
                  <a:schemeClr val="tx1"/>
                </a:solidFill>
              </a:rPr>
              <a:t>RELIEF_REQUEST</a:t>
            </a:r>
            <a:endParaRPr lang="en-US" sz="1300" dirty="0"/>
          </a:p>
          <a:p>
            <a:pPr marL="0" indent="0" algn="ctr">
              <a:buNone/>
            </a:pPr>
            <a:r>
              <a:rPr lang="en-US" sz="1300" dirty="0">
                <a:solidFill>
                  <a:schemeClr val="tx1"/>
                </a:solidFill>
              </a:rPr>
              <a:t>Foreign key to DISASTER</a:t>
            </a:r>
            <a:endParaRPr lang="en-US" sz="1300" dirty="0"/>
          </a:p>
        </p:txBody>
      </p:sp>
      <p:sp>
        <p:nvSpPr>
          <p:cNvPr id="12" name="Pattern caption"/>
          <p:cNvSpPr txBox="1"/>
          <p:nvPr/>
        </p:nvSpPr>
        <p:spPr>
          <a:xfrm>
            <a:off x="6492240" y="3291840"/>
            <a:ext cx="2194560" cy="822960"/>
          </a:xfrm>
          <a:prstGeom prst="rect">
            <a:avLst/>
          </a:prstGeom>
          <a:noFill/>
          <a:ln/>
        </p:spPr>
        <p:txBody>
          <a:bodyPr wrap="square" lIns="0" tIns="0" rIns="0" bIns="0" rtlCol="0" anchor="ctr"/>
          <a:lstStyle/>
          <a:p>
            <a:pPr marL="0" indent="0">
              <a:buNone/>
            </a:pPr>
            <a:r>
              <a:rPr lang="en-US" sz="1200" dirty="0">
                <a:solidFill>
                  <a:schemeClr val="tx2"/>
                </a:solidFill>
              </a:rPr>
              <a:t>One disaster has many relief requests. The foreign key rejects a request for a disaster that does not exist.</a:t>
            </a:r>
            <a:endParaRPr lang="en-US" sz="1200" dirty="0"/>
          </a:p>
        </p:txBody>
      </p:sp>
      <p:sp>
        <p:nvSpPr>
          <p:cNvPr id="13" name="Rectangle 12">
            <a:extLst>
              <a:ext uri="{FF2B5EF4-FFF2-40B4-BE49-F238E27FC236}">
                <a16:creationId xmlns:a16="http://schemas.microsoft.com/office/drawing/2014/main" id="{8793A071-71E7-48EE-6572-51379B863B87}"/>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Architecture and Design</a:t>
            </a:r>
            <a:endParaRPr lang="en-US" sz="3000" dirty="0"/>
          </a:p>
        </p:txBody>
      </p:sp>
      <p:sp>
        <p:nvSpPr>
          <p:cNvPr id="4" name="Modes card"/>
          <p:cNvSpPr txBox="1"/>
          <p:nvPr/>
        </p:nvSpPr>
        <p:spPr>
          <a:xfrm>
            <a:off x="457200" y="1188720"/>
            <a:ext cx="4023360" cy="1600200"/>
          </a:xfrm>
          <a:prstGeom prst="roundRect">
            <a:avLst>
              <a:gd name="adj" fmla="val 4571"/>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Server and embedded modes</a:t>
            </a:r>
            <a:endParaRPr lang="en-US" sz="1400" dirty="0"/>
          </a:p>
          <a:p>
            <a:pPr marL="0" indent="0" algn="l">
              <a:buNone/>
            </a:pPr>
            <a:r>
              <a:rPr lang="en-US" sz="1400" dirty="0">
                <a:solidFill>
                  <a:schemeClr val="tx1"/>
                </a:solidFill>
              </a:rPr>
              <a:t>Server models Super, SuperClassic and Classic are chosen with the ServerMode setting. In embedded mode the engine runs inside the application, with no separate server.</a:t>
            </a:r>
            <a:endParaRPr lang="en-US" sz="1400" dirty="0"/>
          </a:p>
        </p:txBody>
      </p:sp>
      <p:sp>
        <p:nvSpPr>
          <p:cNvPr id="5" name="Storage card"/>
          <p:cNvSpPr txBox="1"/>
          <p:nvPr/>
        </p:nvSpPr>
        <p:spPr>
          <a:xfrm>
            <a:off x="4663440" y="1188720"/>
            <a:ext cx="4023360" cy="1600200"/>
          </a:xfrm>
          <a:prstGeom prst="roundRect">
            <a:avLst>
              <a:gd name="adj" fmla="val 4571"/>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Storage</a:t>
            </a:r>
            <a:endParaRPr lang="en-US" sz="1400" dirty="0"/>
          </a:p>
          <a:p>
            <a:pPr marL="0" indent="0" algn="l">
              <a:buNone/>
            </a:pPr>
            <a:r>
              <a:rPr lang="en-US" sz="1400" dirty="0">
                <a:solidFill>
                  <a:schemeClr val="tx1"/>
                </a:solidFill>
              </a:rPr>
              <a:t>A database is held in a file made of fixed-size pages. Each file carries an on-disk structure (ODS) version that tells which engine versions can open it.</a:t>
            </a:r>
            <a:endParaRPr lang="en-US" sz="1400" dirty="0"/>
          </a:p>
        </p:txBody>
      </p:sp>
      <p:sp>
        <p:nvSpPr>
          <p:cNvPr id="6" name="Indexing card"/>
          <p:cNvSpPr txBox="1"/>
          <p:nvPr/>
        </p:nvSpPr>
        <p:spPr>
          <a:xfrm>
            <a:off x="457200" y="2971800"/>
            <a:ext cx="8229600" cy="1600200"/>
          </a:xfrm>
          <a:prstGeom prst="roundRect">
            <a:avLst>
              <a:gd name="adj" fmla="val 4571"/>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Indexing</a:t>
            </a:r>
            <a:endParaRPr lang="en-US" sz="1400" dirty="0"/>
          </a:p>
          <a:p>
            <a:pPr marL="0" indent="0" algn="l">
              <a:buNone/>
            </a:pPr>
            <a:r>
              <a:rPr lang="en-US" sz="1400" dirty="0">
                <a:solidFill>
                  <a:schemeClr val="tx1"/>
                </a:solidFill>
              </a:rPr>
              <a:t>Firebird creates an index automatically for primary, unique and foreign keys. More indexes can be added for columns that are searched often.</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4</a:t>
            </a:fld>
            <a:endParaRPr lang="en-US"/>
          </a:p>
        </p:txBody>
      </p:sp>
      <p:sp>
        <p:nvSpPr>
          <p:cNvPr id="8" name="Rectangle 7">
            <a:extLst>
              <a:ext uri="{FF2B5EF4-FFF2-40B4-BE49-F238E27FC236}">
                <a16:creationId xmlns:a16="http://schemas.microsoft.com/office/drawing/2014/main" id="{BB251785-6342-6309-F050-B5A1D29FE9C0}"/>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Schema Design and Architecture</a:t>
            </a:r>
            <a:endParaRPr lang="en-US" sz="3000" dirty="0"/>
          </a:p>
        </p:txBody>
      </p:sp>
      <p:sp>
        <p:nvSpPr>
          <p:cNvPr id="4" name="Entity DISASTER"/>
          <p:cNvSpPr txBox="1"/>
          <p:nvPr/>
        </p:nvSpPr>
        <p:spPr>
          <a:xfrm>
            <a:off x="457200" y="114300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DISASTER</a:t>
            </a:r>
            <a:endParaRPr lang="en-US" sz="1100" dirty="0"/>
          </a:p>
          <a:p>
            <a:pPr marL="0" indent="0" algn="l">
              <a:buNone/>
            </a:pPr>
            <a:r>
              <a:rPr lang="en-US" sz="1100" dirty="0">
                <a:solidFill>
                  <a:schemeClr val="tx1"/>
                </a:solidFill>
              </a:rPr>
              <a:t>Primary key</a:t>
            </a:r>
            <a:endParaRPr lang="en-US" sz="1100" dirty="0"/>
          </a:p>
        </p:txBody>
      </p:sp>
      <p:sp>
        <p:nvSpPr>
          <p:cNvPr id="5" name="Entity RELIEF_REQUEST"/>
          <p:cNvSpPr txBox="1"/>
          <p:nvPr/>
        </p:nvSpPr>
        <p:spPr>
          <a:xfrm>
            <a:off x="2590495" y="114300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RELIEF_REQUEST</a:t>
            </a:r>
            <a:endParaRPr lang="en-US" sz="1100" dirty="0"/>
          </a:p>
          <a:p>
            <a:pPr marL="0" indent="0" algn="l">
              <a:buNone/>
            </a:pPr>
            <a:r>
              <a:rPr lang="en-US" sz="1100" dirty="0">
                <a:solidFill>
                  <a:schemeClr val="tx1"/>
                </a:solidFill>
              </a:rPr>
              <a:t>Primary key</a:t>
            </a:r>
            <a:endParaRPr lang="en-US" sz="1100" dirty="0"/>
          </a:p>
          <a:p>
            <a:pPr marL="0" indent="0" algn="l">
              <a:buNone/>
            </a:pPr>
            <a:r>
              <a:rPr lang="en-US" sz="1100" dirty="0">
                <a:solidFill>
                  <a:schemeClr val="tx2"/>
                </a:solidFill>
              </a:rPr>
              <a:t>Foreign keys: DISASTER, ORGANIZATION, RESOURCE</a:t>
            </a:r>
            <a:endParaRPr lang="en-US" sz="1100" dirty="0"/>
          </a:p>
        </p:txBody>
      </p:sp>
      <p:sp>
        <p:nvSpPr>
          <p:cNvPr id="6" name="Entity DELIVERY"/>
          <p:cNvSpPr txBox="1"/>
          <p:nvPr/>
        </p:nvSpPr>
        <p:spPr>
          <a:xfrm>
            <a:off x="4723790" y="114300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DELIVERY</a:t>
            </a:r>
            <a:endParaRPr lang="en-US" sz="1100" dirty="0"/>
          </a:p>
          <a:p>
            <a:pPr marL="0" indent="0" algn="l">
              <a:buNone/>
            </a:pPr>
            <a:r>
              <a:rPr lang="en-US" sz="1100" dirty="0">
                <a:solidFill>
                  <a:schemeClr val="tx1"/>
                </a:solidFill>
              </a:rPr>
              <a:t>Primary key</a:t>
            </a:r>
            <a:endParaRPr lang="en-US" sz="1100" dirty="0"/>
          </a:p>
          <a:p>
            <a:pPr marL="0" indent="0" algn="l">
              <a:buNone/>
            </a:pPr>
            <a:r>
              <a:rPr lang="en-US" sz="1100" dirty="0">
                <a:solidFill>
                  <a:schemeClr val="tx2"/>
                </a:solidFill>
              </a:rPr>
              <a:t>Foreign keys: RELIEF_REQUEST</a:t>
            </a:r>
            <a:endParaRPr lang="en-US" sz="1100" dirty="0"/>
          </a:p>
        </p:txBody>
      </p:sp>
      <p:sp>
        <p:nvSpPr>
          <p:cNvPr id="7" name="Entity DELIVERY_ITEM"/>
          <p:cNvSpPr txBox="1"/>
          <p:nvPr/>
        </p:nvSpPr>
        <p:spPr>
          <a:xfrm>
            <a:off x="6857086" y="114300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DELIVERY_ITEM</a:t>
            </a:r>
            <a:endParaRPr lang="en-US" sz="1100" dirty="0"/>
          </a:p>
          <a:p>
            <a:pPr marL="0" indent="0" algn="l">
              <a:buNone/>
            </a:pPr>
            <a:r>
              <a:rPr lang="en-US" sz="1100" dirty="0">
                <a:solidFill>
                  <a:schemeClr val="tx1"/>
                </a:solidFill>
              </a:rPr>
              <a:t>Primary key</a:t>
            </a:r>
            <a:endParaRPr lang="en-US" sz="1100" dirty="0"/>
          </a:p>
          <a:p>
            <a:pPr marL="0" indent="0" algn="l">
              <a:buNone/>
            </a:pPr>
            <a:r>
              <a:rPr lang="en-US" sz="1100" dirty="0">
                <a:solidFill>
                  <a:schemeClr val="tx2"/>
                </a:solidFill>
              </a:rPr>
              <a:t>Foreign keys: DELIVERY, INVENTORY</a:t>
            </a:r>
            <a:endParaRPr lang="en-US" sz="1100" dirty="0"/>
          </a:p>
        </p:txBody>
      </p:sp>
      <p:sp>
        <p:nvSpPr>
          <p:cNvPr id="8" name="Entity ORGANIZATION"/>
          <p:cNvSpPr txBox="1"/>
          <p:nvPr/>
        </p:nvSpPr>
        <p:spPr>
          <a:xfrm>
            <a:off x="457200" y="224028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ORGANIZATION</a:t>
            </a:r>
            <a:endParaRPr lang="en-US" sz="1100" dirty="0"/>
          </a:p>
          <a:p>
            <a:pPr marL="0" indent="0" algn="l">
              <a:buNone/>
            </a:pPr>
            <a:r>
              <a:rPr lang="en-US" sz="1100" dirty="0">
                <a:solidFill>
                  <a:schemeClr val="tx1"/>
                </a:solidFill>
              </a:rPr>
              <a:t>Primary key</a:t>
            </a:r>
            <a:endParaRPr lang="en-US" sz="1100" dirty="0"/>
          </a:p>
        </p:txBody>
      </p:sp>
      <p:sp>
        <p:nvSpPr>
          <p:cNvPr id="9" name="Entity RESOURCE"/>
          <p:cNvSpPr txBox="1"/>
          <p:nvPr/>
        </p:nvSpPr>
        <p:spPr>
          <a:xfrm>
            <a:off x="2590495" y="224028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RESOURCE</a:t>
            </a:r>
            <a:endParaRPr lang="en-US" sz="1100" dirty="0"/>
          </a:p>
          <a:p>
            <a:pPr marL="0" indent="0" algn="l">
              <a:buNone/>
            </a:pPr>
            <a:r>
              <a:rPr lang="en-US" sz="1100" dirty="0">
                <a:solidFill>
                  <a:schemeClr val="tx1"/>
                </a:solidFill>
              </a:rPr>
              <a:t>Primary key</a:t>
            </a:r>
            <a:endParaRPr lang="en-US" sz="1100" dirty="0"/>
          </a:p>
        </p:txBody>
      </p:sp>
      <p:sp>
        <p:nvSpPr>
          <p:cNvPr id="10" name="Entity INVENTORY"/>
          <p:cNvSpPr txBox="1"/>
          <p:nvPr/>
        </p:nvSpPr>
        <p:spPr>
          <a:xfrm>
            <a:off x="4723790" y="224028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INVENTORY</a:t>
            </a:r>
            <a:endParaRPr lang="en-US" sz="1100" dirty="0"/>
          </a:p>
          <a:p>
            <a:pPr marL="0" indent="0" algn="l">
              <a:buNone/>
            </a:pPr>
            <a:r>
              <a:rPr lang="en-US" sz="1100" dirty="0">
                <a:solidFill>
                  <a:schemeClr val="tx1"/>
                </a:solidFill>
              </a:rPr>
              <a:t>Primary key</a:t>
            </a:r>
            <a:endParaRPr lang="en-US" sz="1100" dirty="0"/>
          </a:p>
          <a:p>
            <a:pPr marL="0" indent="0" algn="l">
              <a:buNone/>
            </a:pPr>
            <a:r>
              <a:rPr lang="en-US" sz="1100" dirty="0">
                <a:solidFill>
                  <a:schemeClr val="tx2"/>
                </a:solidFill>
              </a:rPr>
              <a:t>Foreign keys: WAREHOUSE, RESOURCE</a:t>
            </a:r>
            <a:endParaRPr lang="en-US" sz="1100" dirty="0"/>
          </a:p>
        </p:txBody>
      </p:sp>
      <p:sp>
        <p:nvSpPr>
          <p:cNvPr id="11" name="Entity WAREHOUSE"/>
          <p:cNvSpPr txBox="1"/>
          <p:nvPr/>
        </p:nvSpPr>
        <p:spPr>
          <a:xfrm>
            <a:off x="6857086" y="2240280"/>
            <a:ext cx="1828800" cy="822960"/>
          </a:xfrm>
          <a:prstGeom prst="rect">
            <a:avLst/>
          </a:prstGeom>
          <a:solidFill>
            <a:schemeClr val="bg2"/>
          </a:solidFill>
          <a:ln w="9525">
            <a:solidFill>
              <a:schemeClr val="accent3"/>
            </a:solidFill>
          </a:ln>
        </p:spPr>
        <p:txBody>
          <a:bodyPr wrap="square" lIns="63500" tIns="63500" rIns="63500" bIns="63500" rtlCol="0" anchor="ctr"/>
          <a:lstStyle/>
          <a:p>
            <a:pPr marL="0" indent="0" algn="l">
              <a:buNone/>
            </a:pPr>
            <a:r>
              <a:rPr lang="en-US" sz="1100" b="1" dirty="0">
                <a:solidFill>
                  <a:schemeClr val="accent2"/>
                </a:solidFill>
              </a:rPr>
              <a:t>WAREHOUSE</a:t>
            </a:r>
            <a:endParaRPr lang="en-US" sz="1100" dirty="0"/>
          </a:p>
          <a:p>
            <a:pPr marL="0" indent="0" algn="l">
              <a:buNone/>
            </a:pPr>
            <a:r>
              <a:rPr lang="en-US" sz="1100" dirty="0">
                <a:solidFill>
                  <a:schemeClr val="tx1"/>
                </a:solidFill>
              </a:rPr>
              <a:t>Primary key</a:t>
            </a:r>
            <a:endParaRPr lang="en-US" sz="1100" dirty="0"/>
          </a:p>
        </p:txBody>
      </p:sp>
      <p:sp>
        <p:nvSpPr>
          <p:cNvPr id="12" name="Relationship"/>
          <p:cNvSpPr/>
          <p:nvPr/>
        </p:nvSpPr>
        <p:spPr>
          <a:xfrm>
            <a:off x="2286000" y="1554480"/>
            <a:ext cx="304495" cy="0"/>
          </a:xfrm>
          <a:prstGeom prst="line">
            <a:avLst/>
          </a:prstGeom>
          <a:noFill/>
          <a:ln w="19050">
            <a:solidFill>
              <a:schemeClr val="tx2"/>
            </a:solidFill>
            <a:prstDash val="solid"/>
            <a:tailEnd type="triangle"/>
          </a:ln>
        </p:spPr>
      </p:sp>
      <p:sp>
        <p:nvSpPr>
          <p:cNvPr id="13" name="Relationship"/>
          <p:cNvSpPr/>
          <p:nvPr/>
        </p:nvSpPr>
        <p:spPr>
          <a:xfrm>
            <a:off x="4419295" y="1554480"/>
            <a:ext cx="304495" cy="0"/>
          </a:xfrm>
          <a:prstGeom prst="line">
            <a:avLst/>
          </a:prstGeom>
          <a:noFill/>
          <a:ln w="19050">
            <a:solidFill>
              <a:schemeClr val="tx2"/>
            </a:solidFill>
            <a:prstDash val="solid"/>
            <a:tailEnd type="triangle"/>
          </a:ln>
        </p:spPr>
      </p:sp>
      <p:sp>
        <p:nvSpPr>
          <p:cNvPr id="14" name="Relationship"/>
          <p:cNvSpPr/>
          <p:nvPr/>
        </p:nvSpPr>
        <p:spPr>
          <a:xfrm>
            <a:off x="6552590" y="1554480"/>
            <a:ext cx="304495" cy="0"/>
          </a:xfrm>
          <a:prstGeom prst="line">
            <a:avLst/>
          </a:prstGeom>
          <a:noFill/>
          <a:ln w="19050">
            <a:solidFill>
              <a:schemeClr val="tx2"/>
            </a:solidFill>
            <a:prstDash val="solid"/>
            <a:tailEnd type="triangle"/>
          </a:ln>
        </p:spPr>
      </p:sp>
      <p:sp>
        <p:nvSpPr>
          <p:cNvPr id="15" name="Relationship"/>
          <p:cNvSpPr/>
          <p:nvPr/>
        </p:nvSpPr>
        <p:spPr>
          <a:xfrm>
            <a:off x="4419295" y="2651760"/>
            <a:ext cx="304495" cy="0"/>
          </a:xfrm>
          <a:prstGeom prst="line">
            <a:avLst/>
          </a:prstGeom>
          <a:noFill/>
          <a:ln w="19050">
            <a:solidFill>
              <a:schemeClr val="tx2"/>
            </a:solidFill>
            <a:prstDash val="solid"/>
            <a:tailEnd type="triangle"/>
          </a:ln>
        </p:spPr>
      </p:sp>
      <p:sp>
        <p:nvSpPr>
          <p:cNvPr id="16" name="Relationship"/>
          <p:cNvSpPr/>
          <p:nvPr/>
        </p:nvSpPr>
        <p:spPr>
          <a:xfrm flipH="1">
            <a:off x="6552590" y="2651760"/>
            <a:ext cx="304495" cy="0"/>
          </a:xfrm>
          <a:prstGeom prst="line">
            <a:avLst/>
          </a:prstGeom>
          <a:noFill/>
          <a:ln w="19050">
            <a:solidFill>
              <a:schemeClr val="tx2"/>
            </a:solidFill>
            <a:prstDash val="solid"/>
            <a:tailEnd type="triangle"/>
          </a:ln>
        </p:spPr>
      </p:sp>
      <p:sp>
        <p:nvSpPr>
          <p:cNvPr id="17" name="Relationship"/>
          <p:cNvSpPr/>
          <p:nvPr/>
        </p:nvSpPr>
        <p:spPr>
          <a:xfrm flipV="1">
            <a:off x="3504895" y="1965960"/>
            <a:ext cx="0" cy="274320"/>
          </a:xfrm>
          <a:prstGeom prst="line">
            <a:avLst/>
          </a:prstGeom>
          <a:noFill/>
          <a:ln w="19050">
            <a:solidFill>
              <a:schemeClr val="tx2"/>
            </a:solidFill>
            <a:prstDash val="solid"/>
            <a:tailEnd type="triangle"/>
          </a:ln>
        </p:spPr>
      </p:sp>
      <p:sp>
        <p:nvSpPr>
          <p:cNvPr id="18" name="Relationship"/>
          <p:cNvSpPr/>
          <p:nvPr/>
        </p:nvSpPr>
        <p:spPr>
          <a:xfrm flipV="1">
            <a:off x="2286000" y="1965960"/>
            <a:ext cx="304495" cy="274320"/>
          </a:xfrm>
          <a:prstGeom prst="line">
            <a:avLst/>
          </a:prstGeom>
          <a:noFill/>
          <a:ln w="19050">
            <a:solidFill>
              <a:schemeClr val="tx2"/>
            </a:solidFill>
            <a:prstDash val="solid"/>
            <a:tailEnd type="triangle"/>
          </a:ln>
        </p:spPr>
      </p:sp>
      <p:sp>
        <p:nvSpPr>
          <p:cNvPr id="19" name="Relationship"/>
          <p:cNvSpPr/>
          <p:nvPr/>
        </p:nvSpPr>
        <p:spPr>
          <a:xfrm flipV="1">
            <a:off x="6552590" y="1965960"/>
            <a:ext cx="304495" cy="274320"/>
          </a:xfrm>
          <a:prstGeom prst="line">
            <a:avLst/>
          </a:prstGeom>
          <a:noFill/>
          <a:ln w="19050">
            <a:solidFill>
              <a:schemeClr val="tx2"/>
            </a:solidFill>
            <a:prstDash val="solid"/>
            <a:tailEnd type="triangle"/>
          </a:ln>
        </p:spPr>
      </p:sp>
      <p:sp>
        <p:nvSpPr>
          <p:cNvPr id="20" name="Diagram legend"/>
          <p:cNvSpPr txBox="1"/>
          <p:nvPr/>
        </p:nvSpPr>
        <p:spPr>
          <a:xfrm>
            <a:off x="457200" y="3108960"/>
            <a:ext cx="5943600" cy="201168"/>
          </a:xfrm>
          <a:prstGeom prst="rect">
            <a:avLst/>
          </a:prstGeom>
          <a:noFill/>
          <a:ln/>
        </p:spPr>
        <p:txBody>
          <a:bodyPr wrap="square" lIns="0" tIns="0" rIns="0" bIns="0" rtlCol="0" anchor="ctr"/>
          <a:lstStyle/>
          <a:p>
            <a:pPr marL="0" indent="0">
              <a:buNone/>
            </a:pPr>
            <a:r>
              <a:rPr lang="en-US" sz="1100" dirty="0">
                <a:solidFill>
                  <a:schemeClr val="tx2"/>
                </a:solidFill>
              </a:rPr>
              <a:t>Arrows point from the parent table to the child table that holds the foreign key.</a:t>
            </a:r>
            <a:endParaRPr lang="en-US" sz="1100" dirty="0"/>
          </a:p>
        </p:txBody>
      </p:sp>
      <p:sp>
        <p:nvSpPr>
          <p:cNvPr id="21" name="Architecture heading"/>
          <p:cNvSpPr txBox="1"/>
          <p:nvPr/>
        </p:nvSpPr>
        <p:spPr>
          <a:xfrm>
            <a:off x="457200" y="3474720"/>
            <a:ext cx="4023360" cy="274320"/>
          </a:xfrm>
          <a:prstGeom prst="rect">
            <a:avLst/>
          </a:prstGeom>
          <a:noFill/>
          <a:ln/>
        </p:spPr>
        <p:txBody>
          <a:bodyPr wrap="square" lIns="0" tIns="0" rIns="0" bIns="0" rtlCol="0" anchor="ctr"/>
          <a:lstStyle/>
          <a:p>
            <a:pPr marL="0" indent="0">
              <a:buNone/>
            </a:pPr>
            <a:r>
              <a:rPr lang="en-US" sz="1400" b="1" dirty="0">
                <a:solidFill>
                  <a:schemeClr val="accent2"/>
                </a:solidFill>
              </a:rPr>
              <a:t>How the application reaches the data</a:t>
            </a:r>
            <a:endParaRPr lang="en-US" sz="1400" dirty="0"/>
          </a:p>
        </p:txBody>
      </p:sp>
      <p:sp>
        <p:nvSpPr>
          <p:cNvPr id="22" name="Arch User"/>
          <p:cNvSpPr txBox="1"/>
          <p:nvPr/>
        </p:nvSpPr>
        <p:spPr>
          <a:xfrm>
            <a:off x="457200" y="4069080"/>
            <a:ext cx="1828800" cy="502920"/>
          </a:xfrm>
          <a:prstGeom prst="roundRect">
            <a:avLst>
              <a:gd name="adj" fmla="val 10909"/>
            </a:avLst>
          </a:prstGeom>
          <a:solidFill>
            <a:schemeClr val="bg2"/>
          </a:solidFill>
          <a:ln w="12700">
            <a:solidFill>
              <a:schemeClr val="accent3"/>
            </a:solidFill>
          </a:ln>
        </p:spPr>
        <p:txBody>
          <a:bodyPr wrap="square" lIns="50800" tIns="50800" rIns="50800" bIns="50800" rtlCol="0" anchor="ctr"/>
          <a:lstStyle/>
          <a:p>
            <a:pPr marL="0" indent="0" algn="ctr">
              <a:buNone/>
            </a:pPr>
            <a:r>
              <a:rPr lang="en-US" sz="1200" dirty="0">
                <a:solidFill>
                  <a:schemeClr val="tx1"/>
                </a:solidFill>
              </a:rPr>
              <a:t>User</a:t>
            </a:r>
            <a:endParaRPr lang="en-US" sz="1200" dirty="0"/>
          </a:p>
        </p:txBody>
      </p:sp>
      <p:sp>
        <p:nvSpPr>
          <p:cNvPr id="23" name="Arch Python app"/>
          <p:cNvSpPr txBox="1"/>
          <p:nvPr/>
        </p:nvSpPr>
        <p:spPr>
          <a:xfrm>
            <a:off x="2590495" y="4069080"/>
            <a:ext cx="1828800" cy="502920"/>
          </a:xfrm>
          <a:prstGeom prst="roundRect">
            <a:avLst>
              <a:gd name="adj" fmla="val 10909"/>
            </a:avLst>
          </a:prstGeom>
          <a:solidFill>
            <a:schemeClr val="bg2"/>
          </a:solidFill>
          <a:ln w="12700">
            <a:solidFill>
              <a:schemeClr val="accent3"/>
            </a:solidFill>
          </a:ln>
        </p:spPr>
        <p:txBody>
          <a:bodyPr wrap="square" lIns="50800" tIns="50800" rIns="50800" bIns="50800" rtlCol="0" anchor="ctr"/>
          <a:lstStyle/>
          <a:p>
            <a:pPr marL="0" indent="0" algn="ctr">
              <a:buNone/>
            </a:pPr>
            <a:r>
              <a:rPr lang="en-US" sz="1200" dirty="0">
                <a:solidFill>
                  <a:schemeClr val="tx1"/>
                </a:solidFill>
              </a:rPr>
              <a:t>Custom Python application</a:t>
            </a:r>
            <a:endParaRPr lang="en-US" sz="1200" dirty="0"/>
          </a:p>
        </p:txBody>
      </p:sp>
      <p:sp>
        <p:nvSpPr>
          <p:cNvPr id="24" name="Arch Firebird"/>
          <p:cNvSpPr txBox="1"/>
          <p:nvPr/>
        </p:nvSpPr>
        <p:spPr>
          <a:xfrm>
            <a:off x="4723790" y="4069080"/>
            <a:ext cx="1828800" cy="502920"/>
          </a:xfrm>
          <a:prstGeom prst="roundRect">
            <a:avLst>
              <a:gd name="adj" fmla="val 10909"/>
            </a:avLst>
          </a:prstGeom>
          <a:solidFill>
            <a:schemeClr val="bg2"/>
          </a:solidFill>
          <a:ln w="19050">
            <a:solidFill>
              <a:schemeClr val="accent1"/>
            </a:solidFill>
          </a:ln>
        </p:spPr>
        <p:txBody>
          <a:bodyPr wrap="square" lIns="50800" tIns="50800" rIns="50800" bIns="50800" rtlCol="0" anchor="ctr"/>
          <a:lstStyle/>
          <a:p>
            <a:pPr marL="0" indent="0" algn="ctr">
              <a:buNone/>
            </a:pPr>
            <a:r>
              <a:rPr lang="en-US" sz="1200" b="1" dirty="0">
                <a:solidFill>
                  <a:schemeClr val="tx1"/>
                </a:solidFill>
              </a:rPr>
              <a:t>Firebird RDBMS</a:t>
            </a:r>
            <a:endParaRPr lang="en-US" sz="1200" dirty="0"/>
          </a:p>
        </p:txBody>
      </p:sp>
      <p:sp>
        <p:nvSpPr>
          <p:cNvPr id="25" name="Arch Tables"/>
          <p:cNvSpPr txBox="1"/>
          <p:nvPr/>
        </p:nvSpPr>
        <p:spPr>
          <a:xfrm>
            <a:off x="6857086" y="4069080"/>
            <a:ext cx="1828800" cy="502920"/>
          </a:xfrm>
          <a:prstGeom prst="roundRect">
            <a:avLst>
              <a:gd name="adj" fmla="val 10909"/>
            </a:avLst>
          </a:prstGeom>
          <a:solidFill>
            <a:schemeClr val="bg2"/>
          </a:solidFill>
          <a:ln w="12700">
            <a:solidFill>
              <a:schemeClr val="accent3"/>
            </a:solidFill>
          </a:ln>
        </p:spPr>
        <p:txBody>
          <a:bodyPr wrap="square" lIns="50800" tIns="50800" rIns="50800" bIns="50800" rtlCol="0" anchor="ctr"/>
          <a:lstStyle/>
          <a:p>
            <a:pPr marL="0" indent="0" algn="ctr">
              <a:buNone/>
            </a:pPr>
            <a:r>
              <a:rPr lang="en-US" sz="1200" dirty="0">
                <a:solidFill>
                  <a:schemeClr val="tx1"/>
                </a:solidFill>
              </a:rPr>
              <a:t>Disaster-relief database (8 tables)</a:t>
            </a:r>
            <a:endParaRPr lang="en-US" sz="1200" dirty="0"/>
          </a:p>
        </p:txBody>
      </p:sp>
      <p:sp>
        <p:nvSpPr>
          <p:cNvPr id="26" name="Arch arrow 1"/>
          <p:cNvSpPr/>
          <p:nvPr/>
        </p:nvSpPr>
        <p:spPr>
          <a:xfrm>
            <a:off x="2286000" y="4320540"/>
            <a:ext cx="304495" cy="0"/>
          </a:xfrm>
          <a:prstGeom prst="line">
            <a:avLst/>
          </a:prstGeom>
          <a:noFill/>
          <a:ln w="25400">
            <a:solidFill>
              <a:schemeClr val="accent1"/>
            </a:solidFill>
            <a:prstDash val="solid"/>
            <a:tailEnd type="triangle"/>
          </a:ln>
        </p:spPr>
      </p:sp>
      <p:sp>
        <p:nvSpPr>
          <p:cNvPr id="27" name="Arch arrow 2"/>
          <p:cNvSpPr/>
          <p:nvPr/>
        </p:nvSpPr>
        <p:spPr>
          <a:xfrm>
            <a:off x="4419295" y="4320540"/>
            <a:ext cx="304495" cy="0"/>
          </a:xfrm>
          <a:prstGeom prst="line">
            <a:avLst/>
          </a:prstGeom>
          <a:noFill/>
          <a:ln w="25400">
            <a:solidFill>
              <a:schemeClr val="accent1"/>
            </a:solidFill>
            <a:prstDash val="solid"/>
            <a:tailEnd type="triangle"/>
          </a:ln>
        </p:spPr>
      </p:sp>
      <p:sp>
        <p:nvSpPr>
          <p:cNvPr id="28" name="Arch arrow 3"/>
          <p:cNvSpPr/>
          <p:nvPr/>
        </p:nvSpPr>
        <p:spPr>
          <a:xfrm>
            <a:off x="6552590" y="4320540"/>
            <a:ext cx="304495" cy="0"/>
          </a:xfrm>
          <a:prstGeom prst="line">
            <a:avLst/>
          </a:prstGeom>
          <a:noFill/>
          <a:ln w="25400">
            <a:solidFill>
              <a:schemeClr val="accent1"/>
            </a:solidFill>
            <a:prstDash val="solid"/>
            <a:tailEnd type="triangle"/>
          </a:ln>
        </p:spPr>
      </p:sp>
      <p:sp>
        <p:nvSpPr>
          <p:cNvPr id="29" name="Arch FlameRobin"/>
          <p:cNvSpPr txBox="1"/>
          <p:nvPr/>
        </p:nvSpPr>
        <p:spPr>
          <a:xfrm>
            <a:off x="4723790" y="3383280"/>
            <a:ext cx="1828800" cy="457200"/>
          </a:xfrm>
          <a:prstGeom prst="roundRect">
            <a:avLst>
              <a:gd name="adj" fmla="val 12000"/>
            </a:avLst>
          </a:prstGeom>
          <a:solidFill>
            <a:schemeClr val="bg2"/>
          </a:solidFill>
          <a:ln w="12700">
            <a:solidFill>
              <a:schemeClr val="tx2"/>
            </a:solidFill>
            <a:prstDash val="dash"/>
          </a:ln>
        </p:spPr>
        <p:txBody>
          <a:bodyPr wrap="square" lIns="38100" tIns="38100" rIns="38100" bIns="38100" rtlCol="0" anchor="ctr"/>
          <a:lstStyle/>
          <a:p>
            <a:pPr marL="0" indent="0" algn="ctr">
              <a:buNone/>
            </a:pPr>
            <a:r>
              <a:rPr lang="en-US" sz="1100" b="1" dirty="0">
                <a:solidFill>
                  <a:schemeClr val="tx1"/>
                </a:solidFill>
              </a:rPr>
              <a:t>FlameRobin</a:t>
            </a:r>
            <a:endParaRPr lang="en-US" sz="1100" dirty="0"/>
          </a:p>
          <a:p>
            <a:pPr marL="0" indent="0" algn="ctr">
              <a:buNone/>
            </a:pPr>
            <a:r>
              <a:rPr lang="en-US" sz="1100" dirty="0">
                <a:solidFill>
                  <a:schemeClr val="tx2"/>
                </a:solidFill>
              </a:rPr>
              <a:t>administration and inspection</a:t>
            </a:r>
            <a:endParaRPr lang="en-US" sz="1100" dirty="0"/>
          </a:p>
        </p:txBody>
      </p:sp>
      <p:sp>
        <p:nvSpPr>
          <p:cNvPr id="30" name="Arch FlameRobin link"/>
          <p:cNvSpPr/>
          <p:nvPr/>
        </p:nvSpPr>
        <p:spPr>
          <a:xfrm>
            <a:off x="5638190" y="3840480"/>
            <a:ext cx="0" cy="228600"/>
          </a:xfrm>
          <a:prstGeom prst="line">
            <a:avLst/>
          </a:prstGeom>
          <a:noFill/>
          <a:ln w="19050">
            <a:solidFill>
              <a:schemeClr val="tx2"/>
            </a:solidFill>
            <a:prstDash val="dash"/>
            <a:headEnd type="triangle"/>
            <a:tailEnd type="triangle"/>
          </a:ln>
        </p:spPr>
      </p:sp>
      <p:sp>
        <p:nvSpPr>
          <p:cNvPr id="31"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5</a:t>
            </a:fld>
            <a:endParaRPr lang="en-US"/>
          </a:p>
        </p:txBody>
      </p:sp>
      <p:sp>
        <p:nvSpPr>
          <p:cNvPr id="32" name="Rectangle 31">
            <a:extLst>
              <a:ext uri="{FF2B5EF4-FFF2-40B4-BE49-F238E27FC236}">
                <a16:creationId xmlns:a16="http://schemas.microsoft.com/office/drawing/2014/main" id="{F562D2C1-48B1-A947-68C8-534F8D166E0D}"/>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Core Features</a:t>
            </a:r>
            <a:endParaRPr lang="en-US" sz="3000" dirty="0"/>
          </a:p>
        </p:txBody>
      </p:sp>
      <p:sp>
        <p:nvSpPr>
          <p:cNvPr id="4" name="SQL and PSQL circle"/>
          <p:cNvSpPr/>
          <p:nvPr/>
        </p:nvSpPr>
        <p:spPr>
          <a:xfrm>
            <a:off x="457200" y="1325880"/>
            <a:ext cx="594360" cy="594360"/>
          </a:xfrm>
          <a:prstGeom prst="ellipse">
            <a:avLst/>
          </a:prstGeom>
          <a:solidFill>
            <a:schemeClr val="accent1"/>
          </a:solidFill>
          <a:ln w="12700">
            <a:solidFill>
              <a:schemeClr val="accent1"/>
            </a:solidFill>
            <a:prstDash val="solid"/>
          </a:ln>
        </p:spPr>
      </p:sp>
      <p:pic>
        <p:nvPicPr>
          <p:cNvPr id="5" name="SQL and PSQL image" descr="SQL and PSQL"/>
          <p:cNvPicPr>
            <a:picLocks noChangeAspect="1"/>
          </p:cNvPicPr>
          <p:nvPr/>
        </p:nvPicPr>
        <p:blipFill>
          <a:blip r:embed="rId3"/>
          <a:stretch>
            <a:fillRect/>
          </a:stretch>
        </p:blipFill>
        <p:spPr>
          <a:xfrm>
            <a:off x="611734" y="1480414"/>
            <a:ext cx="285293" cy="285293"/>
          </a:xfrm>
          <a:prstGeom prst="rect">
            <a:avLst/>
          </a:prstGeom>
        </p:spPr>
      </p:pic>
      <p:sp>
        <p:nvSpPr>
          <p:cNvPr id="6" name="Feature SQL and PSQL"/>
          <p:cNvSpPr txBox="1"/>
          <p:nvPr/>
        </p:nvSpPr>
        <p:spPr>
          <a:xfrm>
            <a:off x="1234440" y="1234440"/>
            <a:ext cx="324612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SQL and PSQL</a:t>
            </a:r>
            <a:endParaRPr lang="en-US" sz="1400" dirty="0"/>
          </a:p>
          <a:p>
            <a:pPr marL="0" indent="0">
              <a:buNone/>
            </a:pPr>
            <a:r>
              <a:rPr lang="en-US" sz="1300" dirty="0">
                <a:solidFill>
                  <a:schemeClr val="tx1"/>
                </a:solidFill>
              </a:rPr>
              <a:t>Standard SQL, plus PSQL for procedures and triggers</a:t>
            </a:r>
            <a:endParaRPr lang="en-US" sz="1400" dirty="0"/>
          </a:p>
        </p:txBody>
      </p:sp>
      <p:sp>
        <p:nvSpPr>
          <p:cNvPr id="7" name="Security circle"/>
          <p:cNvSpPr/>
          <p:nvPr/>
        </p:nvSpPr>
        <p:spPr>
          <a:xfrm>
            <a:off x="4663440" y="1325880"/>
            <a:ext cx="594360" cy="594360"/>
          </a:xfrm>
          <a:prstGeom prst="ellipse">
            <a:avLst/>
          </a:prstGeom>
          <a:solidFill>
            <a:schemeClr val="accent1"/>
          </a:solidFill>
          <a:ln w="12700">
            <a:solidFill>
              <a:schemeClr val="accent1"/>
            </a:solidFill>
            <a:prstDash val="solid"/>
          </a:ln>
        </p:spPr>
      </p:sp>
      <p:pic>
        <p:nvPicPr>
          <p:cNvPr id="8" name="Security image" descr="Security"/>
          <p:cNvPicPr>
            <a:picLocks noChangeAspect="1"/>
          </p:cNvPicPr>
          <p:nvPr/>
        </p:nvPicPr>
        <p:blipFill>
          <a:blip r:embed="rId4"/>
          <a:stretch>
            <a:fillRect/>
          </a:stretch>
        </p:blipFill>
        <p:spPr>
          <a:xfrm>
            <a:off x="4817974" y="1480414"/>
            <a:ext cx="285293" cy="285293"/>
          </a:xfrm>
          <a:prstGeom prst="rect">
            <a:avLst/>
          </a:prstGeom>
        </p:spPr>
      </p:pic>
      <p:sp>
        <p:nvSpPr>
          <p:cNvPr id="9" name="Feature Security"/>
          <p:cNvSpPr txBox="1"/>
          <p:nvPr/>
        </p:nvSpPr>
        <p:spPr>
          <a:xfrm>
            <a:off x="5440680" y="1234440"/>
            <a:ext cx="324612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Security</a:t>
            </a:r>
            <a:endParaRPr lang="en-US" sz="1400" dirty="0"/>
          </a:p>
          <a:p>
            <a:pPr marL="0" indent="0">
              <a:buNone/>
            </a:pPr>
            <a:r>
              <a:rPr lang="en-US" sz="1300" dirty="0">
                <a:solidFill>
                  <a:schemeClr val="tx1"/>
                </a:solidFill>
              </a:rPr>
              <a:t>SRP login, GRANT / REVOKE privileges, wire encryption; database encryption via plug-ins</a:t>
            </a:r>
            <a:endParaRPr lang="en-US" sz="1400" dirty="0"/>
          </a:p>
        </p:txBody>
      </p:sp>
      <p:sp>
        <p:nvSpPr>
          <p:cNvPr id="10" name="Backup and recovery circle"/>
          <p:cNvSpPr/>
          <p:nvPr/>
        </p:nvSpPr>
        <p:spPr>
          <a:xfrm>
            <a:off x="457200" y="2468880"/>
            <a:ext cx="594360" cy="594360"/>
          </a:xfrm>
          <a:prstGeom prst="ellipse">
            <a:avLst/>
          </a:prstGeom>
          <a:solidFill>
            <a:schemeClr val="accent1"/>
          </a:solidFill>
          <a:ln w="12700">
            <a:solidFill>
              <a:schemeClr val="accent1"/>
            </a:solidFill>
            <a:prstDash val="solid"/>
          </a:ln>
        </p:spPr>
      </p:sp>
      <p:pic>
        <p:nvPicPr>
          <p:cNvPr id="11" name="Backup and recovery image" descr="Backup and recovery"/>
          <p:cNvPicPr>
            <a:picLocks noChangeAspect="1"/>
          </p:cNvPicPr>
          <p:nvPr/>
        </p:nvPicPr>
        <p:blipFill>
          <a:blip r:embed="rId5"/>
          <a:stretch>
            <a:fillRect/>
          </a:stretch>
        </p:blipFill>
        <p:spPr>
          <a:xfrm>
            <a:off x="611734" y="2623414"/>
            <a:ext cx="285293" cy="285293"/>
          </a:xfrm>
          <a:prstGeom prst="rect">
            <a:avLst/>
          </a:prstGeom>
        </p:spPr>
      </p:pic>
      <p:sp>
        <p:nvSpPr>
          <p:cNvPr id="12" name="Feature Backup and recovery"/>
          <p:cNvSpPr txBox="1"/>
          <p:nvPr/>
        </p:nvSpPr>
        <p:spPr>
          <a:xfrm>
            <a:off x="1234440" y="2377440"/>
            <a:ext cx="324612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Backup and recovery</a:t>
            </a:r>
            <a:endParaRPr lang="en-US" sz="1400" dirty="0"/>
          </a:p>
          <a:p>
            <a:pPr marL="0" indent="0">
              <a:buNone/>
            </a:pPr>
            <a:r>
              <a:rPr lang="en-US" sz="1300" dirty="0">
                <a:solidFill>
                  <a:schemeClr val="tx1"/>
                </a:solidFill>
              </a:rPr>
              <a:t>gbak makes logical backups and restores them</a:t>
            </a:r>
            <a:endParaRPr lang="en-US" sz="1400" dirty="0"/>
          </a:p>
        </p:txBody>
      </p:sp>
      <p:sp>
        <p:nvSpPr>
          <p:cNvPr id="13" name="Integrity constraints circle"/>
          <p:cNvSpPr/>
          <p:nvPr/>
        </p:nvSpPr>
        <p:spPr>
          <a:xfrm>
            <a:off x="4663440" y="2468880"/>
            <a:ext cx="594360" cy="594360"/>
          </a:xfrm>
          <a:prstGeom prst="ellipse">
            <a:avLst/>
          </a:prstGeom>
          <a:solidFill>
            <a:schemeClr val="accent1"/>
          </a:solidFill>
          <a:ln w="12700">
            <a:solidFill>
              <a:schemeClr val="accent1"/>
            </a:solidFill>
            <a:prstDash val="solid"/>
          </a:ln>
        </p:spPr>
      </p:sp>
      <p:pic>
        <p:nvPicPr>
          <p:cNvPr id="14" name="Integrity constraints image" descr="Integrity constraints"/>
          <p:cNvPicPr>
            <a:picLocks noChangeAspect="1"/>
          </p:cNvPicPr>
          <p:nvPr/>
        </p:nvPicPr>
        <p:blipFill>
          <a:blip r:embed="rId6"/>
          <a:stretch>
            <a:fillRect/>
          </a:stretch>
        </p:blipFill>
        <p:spPr>
          <a:xfrm>
            <a:off x="4817974" y="2623414"/>
            <a:ext cx="285293" cy="285293"/>
          </a:xfrm>
          <a:prstGeom prst="rect">
            <a:avLst/>
          </a:prstGeom>
        </p:spPr>
      </p:pic>
      <p:sp>
        <p:nvSpPr>
          <p:cNvPr id="15" name="Feature Integrity constraints"/>
          <p:cNvSpPr txBox="1"/>
          <p:nvPr/>
        </p:nvSpPr>
        <p:spPr>
          <a:xfrm>
            <a:off x="5440680" y="2377440"/>
            <a:ext cx="324612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Integrity constraints</a:t>
            </a:r>
            <a:endParaRPr lang="en-US" sz="1400" dirty="0"/>
          </a:p>
          <a:p>
            <a:pPr marL="0" indent="0">
              <a:buNone/>
            </a:pPr>
            <a:r>
              <a:rPr lang="en-US" sz="1300" dirty="0">
                <a:solidFill>
                  <a:schemeClr val="tx1"/>
                </a:solidFill>
              </a:rPr>
              <a:t>PRIMARY KEY, UNIQUE, FOREIGN KEY, CHECK, NOT NULL</a:t>
            </a:r>
            <a:endParaRPr lang="en-US" sz="1400" dirty="0"/>
          </a:p>
        </p:txBody>
      </p:sp>
      <p:sp>
        <p:nvSpPr>
          <p:cNvPr id="16" name="Procedures and triggers circle"/>
          <p:cNvSpPr/>
          <p:nvPr/>
        </p:nvSpPr>
        <p:spPr>
          <a:xfrm>
            <a:off x="457200" y="3611880"/>
            <a:ext cx="594360" cy="594360"/>
          </a:xfrm>
          <a:prstGeom prst="ellipse">
            <a:avLst/>
          </a:prstGeom>
          <a:solidFill>
            <a:schemeClr val="accent1"/>
          </a:solidFill>
          <a:ln w="12700">
            <a:solidFill>
              <a:schemeClr val="accent1"/>
            </a:solidFill>
            <a:prstDash val="solid"/>
          </a:ln>
        </p:spPr>
      </p:sp>
      <p:pic>
        <p:nvPicPr>
          <p:cNvPr id="17" name="Procedures and triggers image" descr="Procedures and triggers"/>
          <p:cNvPicPr>
            <a:picLocks noChangeAspect="1"/>
          </p:cNvPicPr>
          <p:nvPr/>
        </p:nvPicPr>
        <p:blipFill>
          <a:blip r:embed="rId7"/>
          <a:stretch>
            <a:fillRect/>
          </a:stretch>
        </p:blipFill>
        <p:spPr>
          <a:xfrm>
            <a:off x="611734" y="3766414"/>
            <a:ext cx="285293" cy="285293"/>
          </a:xfrm>
          <a:prstGeom prst="rect">
            <a:avLst/>
          </a:prstGeom>
        </p:spPr>
      </p:pic>
      <p:sp>
        <p:nvSpPr>
          <p:cNvPr id="18" name="Feature Procedures and triggers"/>
          <p:cNvSpPr txBox="1"/>
          <p:nvPr/>
        </p:nvSpPr>
        <p:spPr>
          <a:xfrm>
            <a:off x="1234440" y="3520440"/>
            <a:ext cx="324612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Procedures and triggers</a:t>
            </a:r>
            <a:endParaRPr lang="en-US" sz="1400" dirty="0"/>
          </a:p>
          <a:p>
            <a:pPr marL="0" indent="0">
              <a:buNone/>
            </a:pPr>
            <a:r>
              <a:rPr lang="en-US" sz="1300" dirty="0">
                <a:solidFill>
                  <a:schemeClr val="tx1"/>
                </a:solidFill>
              </a:rPr>
              <a:t>Stored code runs inside the database</a:t>
            </a:r>
            <a:endParaRPr lang="en-US" sz="1400" dirty="0"/>
          </a:p>
        </p:txBody>
      </p:sp>
      <p:sp>
        <p:nvSpPr>
          <p:cNvPr id="19" name="Integration circle"/>
          <p:cNvSpPr/>
          <p:nvPr/>
        </p:nvSpPr>
        <p:spPr>
          <a:xfrm>
            <a:off x="4663440" y="3611880"/>
            <a:ext cx="594360" cy="594360"/>
          </a:xfrm>
          <a:prstGeom prst="ellipse">
            <a:avLst/>
          </a:prstGeom>
          <a:solidFill>
            <a:schemeClr val="accent1"/>
          </a:solidFill>
          <a:ln w="12700">
            <a:solidFill>
              <a:schemeClr val="accent1"/>
            </a:solidFill>
            <a:prstDash val="solid"/>
          </a:ln>
        </p:spPr>
      </p:sp>
      <p:pic>
        <p:nvPicPr>
          <p:cNvPr id="20" name="Integration image" descr="Integration"/>
          <p:cNvPicPr>
            <a:picLocks noChangeAspect="1"/>
          </p:cNvPicPr>
          <p:nvPr/>
        </p:nvPicPr>
        <p:blipFill>
          <a:blip r:embed="rId8"/>
          <a:stretch>
            <a:fillRect/>
          </a:stretch>
        </p:blipFill>
        <p:spPr>
          <a:xfrm>
            <a:off x="4817974" y="3766414"/>
            <a:ext cx="285293" cy="285293"/>
          </a:xfrm>
          <a:prstGeom prst="rect">
            <a:avLst/>
          </a:prstGeom>
        </p:spPr>
      </p:pic>
      <p:sp>
        <p:nvSpPr>
          <p:cNvPr id="21" name="Feature Integration"/>
          <p:cNvSpPr txBox="1"/>
          <p:nvPr/>
        </p:nvSpPr>
        <p:spPr>
          <a:xfrm>
            <a:off x="5440680" y="3520440"/>
            <a:ext cx="324612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Integration</a:t>
            </a:r>
            <a:endParaRPr lang="en-US" sz="1400" dirty="0"/>
          </a:p>
          <a:p>
            <a:pPr marL="0" indent="0">
              <a:buNone/>
            </a:pPr>
            <a:r>
              <a:rPr lang="en-US" sz="1300" dirty="0">
                <a:solidFill>
                  <a:schemeClr val="tx1"/>
                </a:solidFill>
              </a:rPr>
              <a:t>Drivers for Python, Java (Jaybird), ODBC and more; FlameRobin for administration</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6</a:t>
            </a:fld>
            <a:endParaRPr lang="en-US"/>
          </a:p>
        </p:txBody>
      </p:sp>
      <p:sp>
        <p:nvSpPr>
          <p:cNvPr id="22" name="Rectangle 21">
            <a:extLst>
              <a:ext uri="{FF2B5EF4-FFF2-40B4-BE49-F238E27FC236}">
                <a16:creationId xmlns:a16="http://schemas.microsoft.com/office/drawing/2014/main" id="{4D262490-5B49-45A9-6051-C59018778E4D}"/>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Strengths, Limits and MySQL</a:t>
            </a:r>
            <a:endParaRPr lang="en-US" sz="3000" dirty="0"/>
          </a:p>
        </p:txBody>
      </p:sp>
      <p:sp>
        <p:nvSpPr>
          <p:cNvPr id="4" name="Strengths and limitations"/>
          <p:cNvSpPr txBox="1"/>
          <p:nvPr/>
        </p:nvSpPr>
        <p:spPr>
          <a:xfrm>
            <a:off x="457200" y="1188720"/>
            <a:ext cx="3108960" cy="2651760"/>
          </a:xfrm>
          <a:prstGeom prst="rect">
            <a:avLst/>
          </a:prstGeom>
          <a:noFill/>
          <a:ln/>
        </p:spPr>
        <p:txBody>
          <a:bodyPr wrap="square" lIns="0" tIns="0" rIns="0" bIns="0" rtlCol="0" anchor="t"/>
          <a:lstStyle/>
          <a:p>
            <a:pPr marL="0" indent="0">
              <a:spcAft>
                <a:spcPts val="400"/>
              </a:spcAft>
              <a:buNone/>
            </a:pPr>
            <a:r>
              <a:rPr lang="en-US" sz="1400" b="1" dirty="0">
                <a:solidFill>
                  <a:schemeClr val="accent6"/>
                </a:solidFill>
              </a:rPr>
              <a:t>Strengths</a:t>
            </a:r>
            <a:endParaRPr lang="en-US" sz="1300" dirty="0"/>
          </a:p>
          <a:p>
            <a:pPr marL="342900" indent="-342900">
              <a:spcAft>
                <a:spcPts val="300"/>
              </a:spcAft>
              <a:buSzPct val="100000"/>
              <a:buChar char="•"/>
            </a:pPr>
            <a:r>
              <a:rPr lang="en-US" sz="1300" dirty="0">
                <a:solidFill>
                  <a:schemeClr val="tx1"/>
                </a:solidFill>
              </a:rPr>
              <a:t>Free and open source</a:t>
            </a:r>
            <a:endParaRPr lang="en-US" sz="1300" dirty="0"/>
          </a:p>
          <a:p>
            <a:pPr marL="342900" indent="-342900">
              <a:spcAft>
                <a:spcPts val="300"/>
              </a:spcAft>
              <a:buSzPct val="100000"/>
              <a:buChar char="•"/>
            </a:pPr>
            <a:r>
              <a:rPr lang="en-US" sz="1300" dirty="0">
                <a:solidFill>
                  <a:schemeClr val="tx1"/>
                </a:solidFill>
              </a:rPr>
              <a:t>Small footprint, low admin</a:t>
            </a:r>
            <a:endParaRPr lang="en-US" sz="1300" dirty="0"/>
          </a:p>
          <a:p>
            <a:pPr marL="342900" indent="-342900">
              <a:spcAft>
                <a:spcPts val="800"/>
              </a:spcAft>
              <a:buSzPct val="100000"/>
              <a:buChar char="•"/>
            </a:pPr>
            <a:r>
              <a:rPr lang="en-US" sz="1300" dirty="0">
                <a:solidFill>
                  <a:schemeClr val="tx1"/>
                </a:solidFill>
              </a:rPr>
              <a:t>Server or embedded use</a:t>
            </a:r>
            <a:endParaRPr lang="en-US" sz="1300" dirty="0"/>
          </a:p>
          <a:p>
            <a:pPr marL="0" indent="0">
              <a:spcAft>
                <a:spcPts val="400"/>
              </a:spcAft>
              <a:buNone/>
            </a:pPr>
            <a:r>
              <a:rPr lang="en-US" sz="1400" b="1" dirty="0">
                <a:solidFill>
                  <a:schemeClr val="accent1"/>
                </a:solidFill>
              </a:rPr>
              <a:t>Limitations</a:t>
            </a:r>
            <a:endParaRPr lang="en-US" sz="1300" dirty="0"/>
          </a:p>
          <a:p>
            <a:pPr marL="342900" indent="-342900">
              <a:spcAft>
                <a:spcPts val="300"/>
              </a:spcAft>
              <a:buSzPct val="100000"/>
              <a:buChar char="•"/>
            </a:pPr>
            <a:r>
              <a:rPr lang="en-US" sz="1300" dirty="0">
                <a:solidFill>
                  <a:schemeClr val="tx1"/>
                </a:solidFill>
              </a:rPr>
              <a:t>Smaller community and tool set</a:t>
            </a:r>
            <a:endParaRPr lang="en-US" sz="1300" dirty="0"/>
          </a:p>
          <a:p>
            <a:pPr marL="342900" indent="-342900">
              <a:spcAft>
                <a:spcPts val="300"/>
              </a:spcAft>
              <a:buSzPct val="100000"/>
              <a:buChar char="•"/>
            </a:pPr>
            <a:r>
              <a:rPr lang="en-US" sz="1300" dirty="0">
                <a:solidFill>
                  <a:schemeClr val="tx1"/>
                </a:solidFill>
              </a:rPr>
              <a:t>Long transactions delay cleanup</a:t>
            </a:r>
            <a:endParaRPr lang="en-US" sz="1300" dirty="0"/>
          </a:p>
          <a:p>
            <a:pPr marL="342900" indent="-342900">
              <a:spcAft>
                <a:spcPts val="300"/>
              </a:spcAft>
              <a:buSzPct val="100000"/>
              <a:buChar char="•"/>
            </a:pPr>
            <a:r>
              <a:rPr lang="en-US" sz="1300" dirty="0">
                <a:solidFill>
                  <a:schemeClr val="tx1"/>
                </a:solidFill>
              </a:rPr>
              <a:t>Schemas only arrive with 6.0</a:t>
            </a:r>
            <a:endParaRPr lang="en-US" sz="1300" dirty="0"/>
          </a:p>
        </p:txBody>
      </p:sp>
      <p:graphicFrame>
        <p:nvGraphicFramePr>
          <p:cNvPr id="7" name="Firebird vs MySQL table"/>
          <p:cNvGraphicFramePr>
            <a:graphicFrameLocks noGrp="1"/>
          </p:cNvGraphicFramePr>
          <p:nvPr>
            <p:extLst>
              <p:ext uri="{D42A27DB-BD31-4B8C-83A1-F6EECF244321}">
                <p14:modId xmlns:p14="http://schemas.microsoft.com/office/powerpoint/2010/main" val="1579011935"/>
              </p:ext>
            </p:extLst>
          </p:nvPr>
        </p:nvGraphicFramePr>
        <p:xfrm>
          <a:off x="3749040" y="1188720"/>
          <a:ext cx="4937760" cy="2551176"/>
        </p:xfrm>
        <a:graphic>
          <a:graphicData uri="http://schemas.openxmlformats.org/drawingml/2006/table">
            <a:tbl>
              <a:tblPr/>
              <a:tblGrid>
                <a:gridCol w="1097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buNone/>
                      </a:pPr>
                      <a:r>
                        <a:rPr lang="en-US" sz="1200" b="1" dirty="0">
                          <a:solidFill>
                            <a:schemeClr val="bg1"/>
                          </a:solidFill>
                        </a:rPr>
                        <a:t>Aspect</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Firebird</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MySQL</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chemeClr val="tx1"/>
                          </a:solidFill>
                        </a:rPr>
                        <a:t>Licence</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Initial Developer's Public License (MPL variant)</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GPL v2 or commercial (Oracle)</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chemeClr val="tx1"/>
                          </a:solidFill>
                        </a:rPr>
                        <a:t>Concurrency</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Multi-generational: record versions</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InnoDB MVCC with undo logs</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chemeClr val="tx1"/>
                          </a:solidFill>
                        </a:rPr>
                        <a:t>Embedded use</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Supported</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Embedded library dropped in 8.0</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11480">
                <a:tc>
                  <a:txBody>
                    <a:bodyPr/>
                    <a:lstStyle/>
                    <a:p>
                      <a:pPr marL="0" indent="0">
                        <a:buNone/>
                      </a:pPr>
                      <a:r>
                        <a:rPr lang="en-US" sz="1200" dirty="0">
                          <a:solidFill>
                            <a:schemeClr val="tx1"/>
                          </a:solidFill>
                        </a:rPr>
                        <a:t>Replication</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Built-in logical, since 4.0</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Built-in replication</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11480">
                <a:tc>
                  <a:txBody>
                    <a:bodyPr/>
                    <a:lstStyle/>
                    <a:p>
                      <a:pPr marL="0" indent="0">
                        <a:buNone/>
                      </a:pPr>
                      <a:r>
                        <a:rPr lang="en-US" sz="1200" dirty="0">
                          <a:solidFill>
                            <a:schemeClr val="tx1"/>
                          </a:solidFill>
                        </a:rPr>
                        <a:t>Community</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Smaller</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Larger</a:t>
                      </a:r>
                      <a:endParaRPr lang="en-US" sz="1200" dirty="0"/>
                    </a:p>
                  </a:txBody>
                  <a:tcPr marL="54864" marR="54864" marT="36576" marB="36576" anchor="ctr">
                    <a:lnL w="6350" cap="flat" cmpd="sng" algn="ctr">
                      <a:solidFill>
                        <a:srgbClr val="3A4252"/>
                      </a:solidFill>
                      <a:prstDash val="solid"/>
                      <a:round/>
                      <a:headEnd type="none" w="med" len="med"/>
                      <a:tailEnd type="none" w="med" len="med"/>
                    </a:lnL>
                    <a:lnR w="6350" cap="flat" cmpd="sng" algn="ctr">
                      <a:solidFill>
                        <a:srgbClr val="3A4252"/>
                      </a:solidFill>
                      <a:prstDash val="solid"/>
                      <a:round/>
                      <a:headEnd type="none" w="med" len="med"/>
                      <a:tailEnd type="none" w="med" len="med"/>
                    </a:lnR>
                    <a:lnT w="6350" cap="flat" cmpd="sng" algn="ctr">
                      <a:solidFill>
                        <a:srgbClr val="3A4252"/>
                      </a:solidFill>
                      <a:prstDash val="solid"/>
                      <a:round/>
                      <a:headEnd type="none" w="med" len="med"/>
                      <a:tailEnd type="none" w="med" len="med"/>
                    </a:lnT>
                    <a:lnB w="6350" cap="flat" cmpd="sng" algn="ctr">
                      <a:solidFill>
                        <a:srgbClr val="3A425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6" name="Takeaway"/>
          <p:cNvSpPr txBox="1"/>
          <p:nvPr/>
        </p:nvSpPr>
        <p:spPr>
          <a:xfrm>
            <a:off x="457200" y="4069080"/>
            <a:ext cx="8229600" cy="548640"/>
          </a:xfrm>
          <a:prstGeom prst="roundRect">
            <a:avLst>
              <a:gd name="adj" fmla="val 13333"/>
            </a:avLst>
          </a:prstGeom>
          <a:solidFill>
            <a:schemeClr val="bg2"/>
          </a:solidFill>
          <a:ln/>
        </p:spPr>
        <p:txBody>
          <a:bodyPr wrap="square" lIns="50800" tIns="152400" rIns="152400" bIns="50800" rtlCol="0" anchor="ctr"/>
          <a:lstStyle/>
          <a:p>
            <a:pPr marL="0" indent="0">
              <a:buNone/>
            </a:pPr>
            <a:r>
              <a:rPr lang="en-US" sz="1400" b="1" dirty="0">
                <a:solidFill>
                  <a:schemeClr val="accent1"/>
                </a:solidFill>
              </a:rPr>
              <a:t>Good fit: </a:t>
            </a:r>
            <a:r>
              <a:rPr lang="en-US" sz="1400" dirty="0">
                <a:solidFill>
                  <a:schemeClr val="tx1"/>
                </a:solidFill>
              </a:rPr>
              <a:t>low-cost transactional systems, embedded or small-server use, little admin time.</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7</a:t>
            </a:fld>
            <a:endParaRPr lang="en-US"/>
          </a:p>
        </p:txBody>
      </p:sp>
      <p:sp>
        <p:nvSpPr>
          <p:cNvPr id="5" name="Rectangle 4">
            <a:extLst>
              <a:ext uri="{FF2B5EF4-FFF2-40B4-BE49-F238E27FC236}">
                <a16:creationId xmlns:a16="http://schemas.microsoft.com/office/drawing/2014/main" id="{00D28CB1-C840-C359-9284-7FEB997DE7A4}"/>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Performance and Future Trends</a:t>
            </a:r>
            <a:endParaRPr lang="en-US" sz="3000" dirty="0"/>
          </a:p>
        </p:txBody>
      </p:sp>
      <p:sp>
        <p:nvSpPr>
          <p:cNvPr id="4" name="Performance card"/>
          <p:cNvSpPr txBox="1"/>
          <p:nvPr/>
        </p:nvSpPr>
        <p:spPr>
          <a:xfrm>
            <a:off x="457200" y="1188720"/>
            <a:ext cx="3931920" cy="3383280"/>
          </a:xfrm>
          <a:prstGeom prst="roundRect">
            <a:avLst>
              <a:gd name="adj" fmla="val 2162"/>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Performance considerations</a:t>
            </a:r>
            <a:endParaRPr lang="en-US" sz="1400" dirty="0"/>
          </a:p>
        </p:txBody>
      </p:sp>
      <p:sp>
        <p:nvSpPr>
          <p:cNvPr id="5" name="Performance bullets"/>
          <p:cNvSpPr txBox="1"/>
          <p:nvPr/>
        </p:nvSpPr>
        <p:spPr>
          <a:xfrm>
            <a:off x="640080" y="1645920"/>
            <a:ext cx="3566160" cy="2834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Index columns used in frequent searches and joins</a:t>
            </a:r>
            <a:endParaRPr lang="en-US" sz="1300" dirty="0"/>
          </a:p>
          <a:p>
            <a:pPr marL="342900" indent="-342900">
              <a:spcAft>
                <a:spcPts val="800"/>
              </a:spcAft>
              <a:buSzPct val="100000"/>
              <a:buChar char="•"/>
            </a:pPr>
            <a:r>
              <a:rPr lang="en-US" sz="1300" dirty="0">
                <a:solidFill>
                  <a:schemeClr val="tx1"/>
                </a:solidFill>
              </a:rPr>
              <a:t>Keep transactions short so old record versions can be cleaned up</a:t>
            </a:r>
            <a:endParaRPr lang="en-US" sz="1300" dirty="0"/>
          </a:p>
          <a:p>
            <a:pPr marL="342900" indent="-342900">
              <a:spcAft>
                <a:spcPts val="800"/>
              </a:spcAft>
              <a:buSzPct val="100000"/>
              <a:buChar char="•"/>
            </a:pPr>
            <a:r>
              <a:rPr lang="en-US" sz="1300" dirty="0">
                <a:solidFill>
                  <a:schemeClr val="tx1"/>
                </a:solidFill>
              </a:rPr>
              <a:t>Read the query plan to see whether an index is used</a:t>
            </a:r>
            <a:endParaRPr lang="en-US" sz="1300" dirty="0"/>
          </a:p>
          <a:p>
            <a:pPr marL="342900" indent="-342900">
              <a:spcAft>
                <a:spcPts val="800"/>
              </a:spcAft>
              <a:buSzPct val="100000"/>
              <a:buChar char="•"/>
            </a:pPr>
            <a:r>
              <a:rPr lang="en-US" sz="1300" dirty="0">
                <a:solidFill>
                  <a:schemeClr val="tx1"/>
                </a:solidFill>
              </a:rPr>
              <a:t>Firebird 5.0 can run backup, sweep and index builds in parallel (off by default)</a:t>
            </a:r>
            <a:endParaRPr lang="en-US" sz="1300" dirty="0"/>
          </a:p>
        </p:txBody>
      </p:sp>
      <p:sp>
        <p:nvSpPr>
          <p:cNvPr id="6" name="Roadmap line"/>
          <p:cNvSpPr/>
          <p:nvPr/>
        </p:nvSpPr>
        <p:spPr>
          <a:xfrm>
            <a:off x="4727448" y="1417320"/>
            <a:ext cx="0" cy="2743200"/>
          </a:xfrm>
          <a:prstGeom prst="line">
            <a:avLst/>
          </a:prstGeom>
          <a:noFill/>
          <a:ln w="12700">
            <a:solidFill>
              <a:schemeClr val="tx2"/>
            </a:solidFill>
            <a:prstDash val="solid"/>
          </a:ln>
        </p:spPr>
      </p:sp>
      <p:sp>
        <p:nvSpPr>
          <p:cNvPr id="7" name="Roadmap node 1"/>
          <p:cNvSpPr/>
          <p:nvPr/>
        </p:nvSpPr>
        <p:spPr>
          <a:xfrm>
            <a:off x="4617720" y="1280160"/>
            <a:ext cx="219456" cy="219456"/>
          </a:xfrm>
          <a:prstGeom prst="ellipse">
            <a:avLst/>
          </a:prstGeom>
          <a:solidFill>
            <a:schemeClr val="accent1"/>
          </a:solidFill>
          <a:ln w="25400">
            <a:solidFill>
              <a:schemeClr val="bg1"/>
            </a:solidFill>
            <a:prstDash val="solid"/>
          </a:ln>
        </p:spPr>
      </p:sp>
      <p:sp>
        <p:nvSpPr>
          <p:cNvPr id="8" name="Roadmap Firebird 4.0"/>
          <p:cNvSpPr txBox="1"/>
          <p:nvPr/>
        </p:nvSpPr>
        <p:spPr>
          <a:xfrm>
            <a:off x="5029200" y="1234440"/>
            <a:ext cx="365760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Firebird 4.0</a:t>
            </a:r>
            <a:endParaRPr lang="en-US" sz="1400" dirty="0"/>
          </a:p>
          <a:p>
            <a:pPr marL="0" indent="0">
              <a:buNone/>
            </a:pPr>
            <a:r>
              <a:rPr lang="en-US" sz="1300" dirty="0">
                <a:solidFill>
                  <a:schemeClr val="tx1"/>
                </a:solidFill>
              </a:rPr>
              <a:t>Built-in logical replication</a:t>
            </a:r>
            <a:endParaRPr lang="en-US" sz="1400" dirty="0"/>
          </a:p>
        </p:txBody>
      </p:sp>
      <p:sp>
        <p:nvSpPr>
          <p:cNvPr id="9" name="Roadmap node 2"/>
          <p:cNvSpPr/>
          <p:nvPr/>
        </p:nvSpPr>
        <p:spPr>
          <a:xfrm>
            <a:off x="4617720" y="2377440"/>
            <a:ext cx="219456" cy="219456"/>
          </a:xfrm>
          <a:prstGeom prst="ellipse">
            <a:avLst/>
          </a:prstGeom>
          <a:solidFill>
            <a:schemeClr val="accent1"/>
          </a:solidFill>
          <a:ln w="25400">
            <a:solidFill>
              <a:schemeClr val="bg1"/>
            </a:solidFill>
            <a:prstDash val="solid"/>
          </a:ln>
        </p:spPr>
      </p:sp>
      <p:sp>
        <p:nvSpPr>
          <p:cNvPr id="10" name="Roadmap Firebird 5.0"/>
          <p:cNvSpPr txBox="1"/>
          <p:nvPr/>
        </p:nvSpPr>
        <p:spPr>
          <a:xfrm>
            <a:off x="5029200" y="2331720"/>
            <a:ext cx="365760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Firebird 5.0</a:t>
            </a:r>
            <a:endParaRPr lang="en-US" sz="1400" dirty="0"/>
          </a:p>
          <a:p>
            <a:pPr marL="0" indent="0">
              <a:buNone/>
            </a:pPr>
            <a:r>
              <a:rPr lang="en-US" sz="1300" dirty="0">
                <a:solidFill>
                  <a:schemeClr val="tx1"/>
                </a:solidFill>
              </a:rPr>
              <a:t>Parallel workers and an SQL/PSQL profiler</a:t>
            </a:r>
            <a:endParaRPr lang="en-US" sz="1400" dirty="0"/>
          </a:p>
        </p:txBody>
      </p:sp>
      <p:sp>
        <p:nvSpPr>
          <p:cNvPr id="11" name="Roadmap node 3"/>
          <p:cNvSpPr/>
          <p:nvPr/>
        </p:nvSpPr>
        <p:spPr>
          <a:xfrm>
            <a:off x="4617720" y="3474720"/>
            <a:ext cx="219456" cy="219456"/>
          </a:xfrm>
          <a:prstGeom prst="ellipse">
            <a:avLst/>
          </a:prstGeom>
          <a:solidFill>
            <a:schemeClr val="accent2"/>
          </a:solidFill>
          <a:ln w="25400">
            <a:solidFill>
              <a:schemeClr val="bg1"/>
            </a:solidFill>
            <a:prstDash val="solid"/>
          </a:ln>
        </p:spPr>
      </p:sp>
      <p:sp>
        <p:nvSpPr>
          <p:cNvPr id="12" name="Roadmap Firebird 6.0 (roadmap)"/>
          <p:cNvSpPr txBox="1"/>
          <p:nvPr/>
        </p:nvSpPr>
        <p:spPr>
          <a:xfrm>
            <a:off x="5029200" y="3429000"/>
            <a:ext cx="3657600" cy="9601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Firebird 6.0 (roadmap)</a:t>
            </a:r>
            <a:endParaRPr lang="en-US" sz="1400" dirty="0"/>
          </a:p>
          <a:p>
            <a:pPr marL="0" indent="0">
              <a:buNone/>
            </a:pPr>
            <a:r>
              <a:rPr lang="en-US" sz="1300" dirty="0">
                <a:solidFill>
                  <a:schemeClr val="tx1"/>
                </a:solidFill>
              </a:rPr>
              <a:t>Schemas and tablespaces marked complete. Alpha planned Q4 2026, final Q4 2027; dates may change.</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8</a:t>
            </a:fld>
            <a:endParaRPr lang="en-US"/>
          </a:p>
        </p:txBody>
      </p:sp>
      <p:sp>
        <p:nvSpPr>
          <p:cNvPr id="13" name="Rectangle 12">
            <a:extLst>
              <a:ext uri="{FF2B5EF4-FFF2-40B4-BE49-F238E27FC236}">
                <a16:creationId xmlns:a16="http://schemas.microsoft.com/office/drawing/2014/main" id="{2840466F-D5A4-B742-1DD3-3641C1BA0154}"/>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CRUD Operations and Joins</a:t>
            </a:r>
            <a:endParaRPr lang="en-US" sz="3000" dirty="0"/>
          </a:p>
        </p:txBody>
      </p:sp>
      <p:sp>
        <p:nvSpPr>
          <p:cNvPr id="4" name="CRUD row Create"/>
          <p:cNvSpPr/>
          <p:nvPr/>
        </p:nvSpPr>
        <p:spPr>
          <a:xfrm>
            <a:off x="457200" y="1188720"/>
            <a:ext cx="4572000" cy="621792"/>
          </a:xfrm>
          <a:prstGeom prst="roundRect">
            <a:avLst>
              <a:gd name="adj" fmla="val 11765"/>
            </a:avLst>
          </a:prstGeom>
          <a:solidFill>
            <a:schemeClr val="bg2"/>
          </a:solidFill>
          <a:ln w="12700">
            <a:solidFill>
              <a:schemeClr val="bg2"/>
            </a:solidFill>
            <a:prstDash val="solid"/>
          </a:ln>
        </p:spPr>
      </p:sp>
      <p:sp>
        <p:nvSpPr>
          <p:cNvPr id="5" name="CRUD label Create"/>
          <p:cNvSpPr txBox="1"/>
          <p:nvPr/>
        </p:nvSpPr>
        <p:spPr>
          <a:xfrm>
            <a:off x="594360" y="1188720"/>
            <a:ext cx="868680" cy="621792"/>
          </a:xfrm>
          <a:prstGeom prst="rect">
            <a:avLst/>
          </a:prstGeom>
          <a:noFill/>
          <a:ln/>
        </p:spPr>
        <p:txBody>
          <a:bodyPr wrap="square" lIns="0" tIns="0" rIns="0" bIns="0" rtlCol="0" anchor="ctr"/>
          <a:lstStyle/>
          <a:p>
            <a:pPr marL="0" indent="0">
              <a:buNone/>
            </a:pPr>
            <a:r>
              <a:rPr lang="en-US" sz="1400" b="1" dirty="0">
                <a:solidFill>
                  <a:schemeClr val="accent2"/>
                </a:solidFill>
              </a:rPr>
              <a:t>Create</a:t>
            </a:r>
            <a:endParaRPr lang="en-US" sz="1400" dirty="0"/>
          </a:p>
        </p:txBody>
      </p:sp>
      <p:sp>
        <p:nvSpPr>
          <p:cNvPr id="6" name="CRUD SQL Create"/>
          <p:cNvSpPr txBox="1"/>
          <p:nvPr/>
        </p:nvSpPr>
        <p:spPr>
          <a:xfrm>
            <a:off x="1417320" y="1188720"/>
            <a:ext cx="3520440" cy="621792"/>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INSERT INTO RELIEF_REQUEST (columns) VALUES (values);</a:t>
            </a:r>
            <a:endParaRPr lang="en-US" sz="1000" dirty="0"/>
          </a:p>
        </p:txBody>
      </p:sp>
      <p:sp>
        <p:nvSpPr>
          <p:cNvPr id="7" name="CRUD row Read"/>
          <p:cNvSpPr/>
          <p:nvPr/>
        </p:nvSpPr>
        <p:spPr>
          <a:xfrm>
            <a:off x="457200" y="1901952"/>
            <a:ext cx="4572000" cy="621792"/>
          </a:xfrm>
          <a:prstGeom prst="roundRect">
            <a:avLst>
              <a:gd name="adj" fmla="val 11765"/>
            </a:avLst>
          </a:prstGeom>
          <a:solidFill>
            <a:schemeClr val="bg2"/>
          </a:solidFill>
          <a:ln w="12700">
            <a:solidFill>
              <a:schemeClr val="bg2"/>
            </a:solidFill>
            <a:prstDash val="solid"/>
          </a:ln>
        </p:spPr>
      </p:sp>
      <p:sp>
        <p:nvSpPr>
          <p:cNvPr id="8" name="CRUD label Read"/>
          <p:cNvSpPr txBox="1"/>
          <p:nvPr/>
        </p:nvSpPr>
        <p:spPr>
          <a:xfrm>
            <a:off x="594360" y="1901952"/>
            <a:ext cx="868680" cy="621792"/>
          </a:xfrm>
          <a:prstGeom prst="rect">
            <a:avLst/>
          </a:prstGeom>
          <a:noFill/>
          <a:ln/>
        </p:spPr>
        <p:txBody>
          <a:bodyPr wrap="square" lIns="0" tIns="0" rIns="0" bIns="0" rtlCol="0" anchor="ctr"/>
          <a:lstStyle/>
          <a:p>
            <a:pPr marL="0" indent="0">
              <a:buNone/>
            </a:pPr>
            <a:r>
              <a:rPr lang="en-US" sz="1400" b="1" dirty="0">
                <a:solidFill>
                  <a:schemeClr val="accent2"/>
                </a:solidFill>
              </a:rPr>
              <a:t>Read</a:t>
            </a:r>
            <a:endParaRPr lang="en-US" sz="1400" dirty="0"/>
          </a:p>
        </p:txBody>
      </p:sp>
      <p:sp>
        <p:nvSpPr>
          <p:cNvPr id="9" name="CRUD SQL Read"/>
          <p:cNvSpPr txBox="1"/>
          <p:nvPr/>
        </p:nvSpPr>
        <p:spPr>
          <a:xfrm>
            <a:off x="1417320" y="1901952"/>
            <a:ext cx="3520440" cy="621792"/>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SELECT columns FROM RELIEF_REQUEST WHERE condition;</a:t>
            </a:r>
            <a:endParaRPr lang="en-US" sz="1000" dirty="0"/>
          </a:p>
        </p:txBody>
      </p:sp>
      <p:sp>
        <p:nvSpPr>
          <p:cNvPr id="10" name="CRUD row Update"/>
          <p:cNvSpPr/>
          <p:nvPr/>
        </p:nvSpPr>
        <p:spPr>
          <a:xfrm>
            <a:off x="457200" y="2615184"/>
            <a:ext cx="4572000" cy="621792"/>
          </a:xfrm>
          <a:prstGeom prst="roundRect">
            <a:avLst>
              <a:gd name="adj" fmla="val 11765"/>
            </a:avLst>
          </a:prstGeom>
          <a:solidFill>
            <a:schemeClr val="bg2"/>
          </a:solidFill>
          <a:ln w="12700">
            <a:solidFill>
              <a:schemeClr val="bg2"/>
            </a:solidFill>
            <a:prstDash val="solid"/>
          </a:ln>
        </p:spPr>
      </p:sp>
      <p:sp>
        <p:nvSpPr>
          <p:cNvPr id="11" name="CRUD label Update"/>
          <p:cNvSpPr txBox="1"/>
          <p:nvPr/>
        </p:nvSpPr>
        <p:spPr>
          <a:xfrm>
            <a:off x="594360" y="2615184"/>
            <a:ext cx="868680" cy="621792"/>
          </a:xfrm>
          <a:prstGeom prst="rect">
            <a:avLst/>
          </a:prstGeom>
          <a:noFill/>
          <a:ln/>
        </p:spPr>
        <p:txBody>
          <a:bodyPr wrap="square" lIns="0" tIns="0" rIns="0" bIns="0" rtlCol="0" anchor="ctr"/>
          <a:lstStyle/>
          <a:p>
            <a:pPr marL="0" indent="0">
              <a:buNone/>
            </a:pPr>
            <a:r>
              <a:rPr lang="en-US" sz="1400" b="1" dirty="0">
                <a:solidFill>
                  <a:schemeClr val="accent2"/>
                </a:solidFill>
              </a:rPr>
              <a:t>Update</a:t>
            </a:r>
            <a:endParaRPr lang="en-US" sz="1400" dirty="0"/>
          </a:p>
        </p:txBody>
      </p:sp>
      <p:sp>
        <p:nvSpPr>
          <p:cNvPr id="12" name="CRUD SQL Update"/>
          <p:cNvSpPr txBox="1"/>
          <p:nvPr/>
        </p:nvSpPr>
        <p:spPr>
          <a:xfrm>
            <a:off x="1417320" y="2615184"/>
            <a:ext cx="3520440" cy="621792"/>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UPDATE RELIEF_REQUEST SET column = value WHERE condition;</a:t>
            </a:r>
            <a:endParaRPr lang="en-US" sz="1000" dirty="0"/>
          </a:p>
        </p:txBody>
      </p:sp>
      <p:sp>
        <p:nvSpPr>
          <p:cNvPr id="13" name="CRUD row Delete"/>
          <p:cNvSpPr/>
          <p:nvPr/>
        </p:nvSpPr>
        <p:spPr>
          <a:xfrm>
            <a:off x="457200" y="3328416"/>
            <a:ext cx="4572000" cy="621792"/>
          </a:xfrm>
          <a:prstGeom prst="roundRect">
            <a:avLst>
              <a:gd name="adj" fmla="val 11765"/>
            </a:avLst>
          </a:prstGeom>
          <a:solidFill>
            <a:schemeClr val="bg2"/>
          </a:solidFill>
          <a:ln w="12700">
            <a:solidFill>
              <a:schemeClr val="bg2"/>
            </a:solidFill>
            <a:prstDash val="solid"/>
          </a:ln>
        </p:spPr>
      </p:sp>
      <p:sp>
        <p:nvSpPr>
          <p:cNvPr id="14" name="CRUD label Delete"/>
          <p:cNvSpPr txBox="1"/>
          <p:nvPr/>
        </p:nvSpPr>
        <p:spPr>
          <a:xfrm>
            <a:off x="594360" y="3328416"/>
            <a:ext cx="868680" cy="621792"/>
          </a:xfrm>
          <a:prstGeom prst="rect">
            <a:avLst/>
          </a:prstGeom>
          <a:noFill/>
          <a:ln/>
        </p:spPr>
        <p:txBody>
          <a:bodyPr wrap="square" lIns="0" tIns="0" rIns="0" bIns="0" rtlCol="0" anchor="ctr"/>
          <a:lstStyle/>
          <a:p>
            <a:pPr marL="0" indent="0">
              <a:buNone/>
            </a:pPr>
            <a:r>
              <a:rPr lang="en-US" sz="1400" b="1" dirty="0">
                <a:solidFill>
                  <a:schemeClr val="accent2"/>
                </a:solidFill>
              </a:rPr>
              <a:t>Delete</a:t>
            </a:r>
            <a:endParaRPr lang="en-US" sz="1400" dirty="0"/>
          </a:p>
        </p:txBody>
      </p:sp>
      <p:sp>
        <p:nvSpPr>
          <p:cNvPr id="15" name="CRUD SQL Delete"/>
          <p:cNvSpPr txBox="1"/>
          <p:nvPr/>
        </p:nvSpPr>
        <p:spPr>
          <a:xfrm>
            <a:off x="1417320" y="3328416"/>
            <a:ext cx="3520440" cy="621792"/>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DELETE FROM RELIEF_REQUEST WHERE condition;</a:t>
            </a:r>
            <a:endParaRPr lang="en-US" sz="1000" dirty="0"/>
          </a:p>
        </p:txBody>
      </p:sp>
      <p:sp>
        <p:nvSpPr>
          <p:cNvPr id="16" name="Join card"/>
          <p:cNvSpPr txBox="1"/>
          <p:nvPr/>
        </p:nvSpPr>
        <p:spPr>
          <a:xfrm>
            <a:off x="5212080" y="1188720"/>
            <a:ext cx="3474720" cy="2743200"/>
          </a:xfrm>
          <a:prstGeom prst="roundRect">
            <a:avLst>
              <a:gd name="adj" fmla="val 2667"/>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Join: requests by disaster</a:t>
            </a:r>
            <a:endParaRPr lang="en-US" sz="1400" dirty="0"/>
          </a:p>
        </p:txBody>
      </p:sp>
      <p:sp>
        <p:nvSpPr>
          <p:cNvPr id="17" name="Join SQL"/>
          <p:cNvSpPr txBox="1"/>
          <p:nvPr/>
        </p:nvSpPr>
        <p:spPr>
          <a:xfrm>
            <a:off x="5349240" y="1600200"/>
            <a:ext cx="3200400" cy="1188720"/>
          </a:xfrm>
          <a:prstGeom prst="rect">
            <a:avLst/>
          </a:prstGeom>
          <a:solidFill>
            <a:srgbClr val="11141A"/>
          </a:solidFill>
          <a:ln/>
        </p:spPr>
        <p:txBody>
          <a:bodyPr wrap="square" lIns="101600" tIns="101600" rIns="101600" bIns="1016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SELECT *</a:t>
            </a:r>
            <a:endParaRPr lang="en-US" sz="1000" dirty="0"/>
          </a:p>
          <a:p>
            <a:pPr marL="0" indent="0" algn="l">
              <a:buNone/>
            </a:pPr>
            <a:r>
              <a:rPr lang="en-US" sz="1000" dirty="0">
                <a:solidFill>
                  <a:schemeClr val="tx1"/>
                </a:solidFill>
                <a:latin typeface="Courier New" pitchFamily="34" charset="0"/>
                <a:ea typeface="Courier New" pitchFamily="34" charset="-122"/>
                <a:cs typeface="Courier New" pitchFamily="34" charset="-120"/>
              </a:rPr>
              <a:t>FROM DISASTER D</a:t>
            </a:r>
            <a:endParaRPr lang="en-US" sz="1000" dirty="0"/>
          </a:p>
          <a:p>
            <a:pPr marL="0" indent="0" algn="l">
              <a:buNone/>
            </a:pPr>
            <a:r>
              <a:rPr lang="en-US" sz="1000" dirty="0">
                <a:solidFill>
                  <a:schemeClr val="tx1"/>
                </a:solidFill>
                <a:latin typeface="Courier New" pitchFamily="34" charset="0"/>
                <a:ea typeface="Courier New" pitchFamily="34" charset="-122"/>
                <a:cs typeface="Courier New" pitchFamily="34" charset="-120"/>
              </a:rPr>
              <a:t>JOIN RELIEF_REQUEST R</a:t>
            </a:r>
            <a:endParaRPr lang="en-US" sz="1000" dirty="0"/>
          </a:p>
          <a:p>
            <a:pPr marL="0" indent="0" algn="l">
              <a:buNone/>
            </a:pPr>
            <a:r>
              <a:rPr lang="en-US" sz="1000" dirty="0">
                <a:solidFill>
                  <a:schemeClr val="tx1"/>
                </a:solidFill>
                <a:latin typeface="Courier New" pitchFamily="34" charset="0"/>
                <a:ea typeface="Courier New" pitchFamily="34" charset="-122"/>
                <a:cs typeface="Courier New" pitchFamily="34" charset="-120"/>
              </a:rPr>
              <a:t>  ON R.DISASTER_ID = D.DISASTER_ID;</a:t>
            </a:r>
            <a:endParaRPr lang="en-US" sz="1000" dirty="0"/>
          </a:p>
        </p:txBody>
      </p:sp>
      <p:sp>
        <p:nvSpPr>
          <p:cNvPr id="18" name="Join explanation"/>
          <p:cNvSpPr txBox="1"/>
          <p:nvPr/>
        </p:nvSpPr>
        <p:spPr>
          <a:xfrm>
            <a:off x="5394960" y="2926080"/>
            <a:ext cx="3108960" cy="914400"/>
          </a:xfrm>
          <a:prstGeom prst="rect">
            <a:avLst/>
          </a:prstGeom>
          <a:noFill/>
          <a:ln/>
        </p:spPr>
        <p:txBody>
          <a:bodyPr wrap="square" lIns="0" tIns="0" rIns="0" bIns="0" rtlCol="0" anchor="t"/>
          <a:lstStyle/>
          <a:p>
            <a:pPr marL="0" indent="0">
              <a:buNone/>
            </a:pPr>
            <a:r>
              <a:rPr lang="en-US" sz="1300" dirty="0">
                <a:solidFill>
                  <a:schemeClr val="tx1"/>
                </a:solidFill>
              </a:rPr>
              <a:t>A join combines each disaster with its relief requests through the foreign key.</a:t>
            </a:r>
            <a:endParaRPr lang="en-US" sz="1300" dirty="0"/>
          </a:p>
        </p:txBody>
      </p:sp>
      <p:sp>
        <p:nvSpPr>
          <p:cNvPr id="19" name="Takeaway"/>
          <p:cNvSpPr txBox="1"/>
          <p:nvPr/>
        </p:nvSpPr>
        <p:spPr>
          <a:xfrm>
            <a:off x="457200" y="4114800"/>
            <a:ext cx="8229600" cy="502920"/>
          </a:xfrm>
          <a:prstGeom prst="roundRect">
            <a:avLst>
              <a:gd name="adj" fmla="val 14545"/>
            </a:avLst>
          </a:prstGeom>
          <a:solidFill>
            <a:schemeClr val="bg2"/>
          </a:solidFill>
          <a:ln/>
        </p:spPr>
        <p:txBody>
          <a:bodyPr wrap="square" lIns="50800" tIns="152400" rIns="152400" bIns="50800" rtlCol="0" anchor="ctr"/>
          <a:lstStyle/>
          <a:p>
            <a:pPr marL="0" indent="0">
              <a:buNone/>
            </a:pPr>
            <a:r>
              <a:rPr lang="en-US" sz="1400" b="1" dirty="0">
                <a:solidFill>
                  <a:schemeClr val="accent1"/>
                </a:solidFill>
              </a:rPr>
              <a:t>Why it matters: </a:t>
            </a:r>
            <a:r>
              <a:rPr lang="en-US" sz="1400" dirty="0">
                <a:solidFill>
                  <a:schemeClr val="tx1"/>
                </a:solidFill>
              </a:rPr>
              <a:t>CRUD changes the data; joins connect related tables into one answer.</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9</a:t>
            </a:fld>
            <a:endParaRPr lang="en-US"/>
          </a:p>
        </p:txBody>
      </p:sp>
      <p:sp>
        <p:nvSpPr>
          <p:cNvPr id="20" name="Rectangle 19">
            <a:extLst>
              <a:ext uri="{FF2B5EF4-FFF2-40B4-BE49-F238E27FC236}">
                <a16:creationId xmlns:a16="http://schemas.microsoft.com/office/drawing/2014/main" id="{0B07094D-E2CC-6798-C141-C49970F19C21}"/>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Use Cases and Case Study</a:t>
            </a:r>
            <a:endParaRPr lang="en-US" sz="3000" dirty="0"/>
          </a:p>
        </p:txBody>
      </p:sp>
      <p:sp>
        <p:nvSpPr>
          <p:cNvPr id="4" name="Users heading"/>
          <p:cNvSpPr txBox="1"/>
          <p:nvPr/>
        </p:nvSpPr>
        <p:spPr>
          <a:xfrm>
            <a:off x="457200" y="1188720"/>
            <a:ext cx="4023360" cy="274320"/>
          </a:xfrm>
          <a:prstGeom prst="rect">
            <a:avLst/>
          </a:prstGeom>
          <a:noFill/>
          <a:ln/>
        </p:spPr>
        <p:txBody>
          <a:bodyPr wrap="square" lIns="0" tIns="0" rIns="0" bIns="0" rtlCol="0" anchor="ctr"/>
          <a:lstStyle/>
          <a:p>
            <a:pPr marL="0" indent="0">
              <a:buNone/>
            </a:pPr>
            <a:r>
              <a:rPr lang="en-US" sz="1400" b="1" dirty="0">
                <a:solidFill>
                  <a:schemeClr val="accent2"/>
                </a:solidFill>
              </a:rPr>
              <a:t>Documented users (Firebird whitepaper)</a:t>
            </a:r>
            <a:endParaRPr lang="en-US" sz="1400" dirty="0"/>
          </a:p>
        </p:txBody>
      </p:sp>
      <p:sp>
        <p:nvSpPr>
          <p:cNvPr id="5" name="Users list"/>
          <p:cNvSpPr txBox="1"/>
          <p:nvPr/>
        </p:nvSpPr>
        <p:spPr>
          <a:xfrm>
            <a:off x="457200" y="1508760"/>
            <a:ext cx="4023360" cy="10972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Star Airlines: ERP for planning and invoicing</a:t>
            </a:r>
            <a:endParaRPr lang="en-US" sz="1300" dirty="0"/>
          </a:p>
          <a:p>
            <a:pPr marL="342900" indent="-342900">
              <a:spcAft>
                <a:spcPts val="500"/>
              </a:spcAft>
              <a:buSzPct val="100000"/>
              <a:buChar char="•"/>
            </a:pPr>
            <a:r>
              <a:rPr lang="en-US" sz="1300" dirty="0">
                <a:solidFill>
                  <a:schemeClr val="tx1"/>
                </a:solidFill>
              </a:rPr>
              <a:t>British Rail: timetabling, bookings, accounting</a:t>
            </a:r>
            <a:endParaRPr lang="en-US" sz="1300" dirty="0"/>
          </a:p>
          <a:p>
            <a:pPr marL="342900" indent="-342900">
              <a:spcAft>
                <a:spcPts val="500"/>
              </a:spcAft>
              <a:buSzPct val="100000"/>
              <a:buChar char="•"/>
            </a:pPr>
            <a:r>
              <a:rPr lang="en-US" sz="1300" dirty="0">
                <a:solidFill>
                  <a:schemeClr val="tx1"/>
                </a:solidFill>
              </a:rPr>
              <a:t>MICEX: market data, orders and trades</a:t>
            </a:r>
            <a:endParaRPr lang="en-US" sz="1300" dirty="0"/>
          </a:p>
        </p:txBody>
      </p:sp>
      <p:sp>
        <p:nvSpPr>
          <p:cNvPr id="6" name="Case study card"/>
          <p:cNvSpPr txBox="1"/>
          <p:nvPr/>
        </p:nvSpPr>
        <p:spPr>
          <a:xfrm>
            <a:off x="457200" y="2743200"/>
            <a:ext cx="4023360" cy="1828800"/>
          </a:xfrm>
          <a:prstGeom prst="roundRect">
            <a:avLst>
              <a:gd name="adj" fmla="val 4000"/>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Case study: Prague Municipal Library</a:t>
            </a:r>
            <a:endParaRPr lang="en-US" sz="1400" dirty="0"/>
          </a:p>
          <a:p>
            <a:pPr marL="0" indent="0" algn="l">
              <a:buNone/>
            </a:pPr>
            <a:r>
              <a:rPr lang="en-US" sz="1200" dirty="0">
                <a:solidFill>
                  <a:schemeClr val="tx1"/>
                </a:solidFill>
              </a:rPr>
              <a:t>About 20 applications share one Firebird database of roughly 30 GB, used by 300 to 350 people at peak. Reported on Firebird 1.5.2, so it shows the long-term use of Firebird rather than current versions.</a:t>
            </a:r>
            <a:endParaRPr lang="en-US" sz="1400" dirty="0"/>
          </a:p>
        </p:txBody>
      </p:sp>
      <p:sp>
        <p:nvSpPr>
          <p:cNvPr id="7" name="Relevance card"/>
          <p:cNvSpPr txBox="1"/>
          <p:nvPr/>
        </p:nvSpPr>
        <p:spPr>
          <a:xfrm>
            <a:off x="4663440" y="1188720"/>
            <a:ext cx="4023360" cy="3383280"/>
          </a:xfrm>
          <a:prstGeom prst="roundRect">
            <a:avLst>
              <a:gd name="adj" fmla="val 2162"/>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Why it fits our project</a:t>
            </a:r>
            <a:endParaRPr lang="en-US" sz="1400" dirty="0"/>
          </a:p>
        </p:txBody>
      </p:sp>
      <p:sp>
        <p:nvSpPr>
          <p:cNvPr id="8" name="Relevance bullets"/>
          <p:cNvSpPr txBox="1"/>
          <p:nvPr/>
        </p:nvSpPr>
        <p:spPr>
          <a:xfrm>
            <a:off x="4846320" y="1645920"/>
            <a:ext cx="3657600" cy="2834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Relief work is transactional: requests, stock and deliveries change constantly</a:t>
            </a:r>
            <a:endParaRPr lang="en-US" sz="1300" dirty="0"/>
          </a:p>
          <a:p>
            <a:pPr marL="342900" indent="-342900">
              <a:spcAft>
                <a:spcPts val="800"/>
              </a:spcAft>
              <a:buSzPct val="100000"/>
              <a:buChar char="•"/>
            </a:pPr>
            <a:r>
              <a:rPr lang="en-US" sz="1300" dirty="0">
                <a:solidFill>
                  <a:schemeClr val="tx1"/>
                </a:solidFill>
              </a:rPr>
              <a:t>Keys and constraints keep those records consistent</a:t>
            </a:r>
            <a:endParaRPr lang="en-US" sz="1300" dirty="0"/>
          </a:p>
          <a:p>
            <a:pPr marL="342900" indent="-342900">
              <a:spcAft>
                <a:spcPts val="800"/>
              </a:spcAft>
              <a:buSzPct val="100000"/>
              <a:buChar char="•"/>
            </a:pPr>
            <a:r>
              <a:rPr lang="en-US" sz="1300" dirty="0">
                <a:solidFill>
                  <a:schemeClr val="tx1"/>
                </a:solidFill>
              </a:rPr>
              <a:t>A trigger keeps inventory in step with deliveries</a:t>
            </a:r>
            <a:endParaRPr lang="en-US" sz="1300" dirty="0"/>
          </a:p>
          <a:p>
            <a:pPr marL="342900" indent="-342900">
              <a:spcAft>
                <a:spcPts val="800"/>
              </a:spcAft>
              <a:buSzPct val="100000"/>
              <a:buChar char="•"/>
            </a:pPr>
            <a:r>
              <a:rPr lang="en-US" sz="1300" dirty="0">
                <a:solidFill>
                  <a:schemeClr val="tx1"/>
                </a:solidFill>
              </a:rPr>
              <a:t>Free licence and low admin suit a small relief team</a:t>
            </a:r>
            <a:endParaRPr lang="en-US" sz="13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10</a:t>
            </a:fld>
            <a:endParaRPr lang="en-US"/>
          </a:p>
        </p:txBody>
      </p:sp>
      <p:sp>
        <p:nvSpPr>
          <p:cNvPr id="9" name="Rectangle 8">
            <a:extLst>
              <a:ext uri="{FF2B5EF4-FFF2-40B4-BE49-F238E27FC236}">
                <a16:creationId xmlns:a16="http://schemas.microsoft.com/office/drawing/2014/main" id="{AFD4FE1B-CEDF-1034-6F76-470256C91F42}"/>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Indexes and Views</a:t>
            </a:r>
            <a:endParaRPr lang="en-US" sz="3000" dirty="0"/>
          </a:p>
        </p:txBody>
      </p:sp>
      <p:sp>
        <p:nvSpPr>
          <p:cNvPr id="4" name="Indexes card"/>
          <p:cNvSpPr txBox="1"/>
          <p:nvPr/>
        </p:nvSpPr>
        <p:spPr>
          <a:xfrm>
            <a:off x="457200" y="1188720"/>
            <a:ext cx="4023360" cy="2743200"/>
          </a:xfrm>
          <a:prstGeom prst="roundRect">
            <a:avLst>
              <a:gd name="adj" fmla="val 2667"/>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Indexes</a:t>
            </a:r>
            <a:endParaRPr lang="en-US" sz="1400" dirty="0"/>
          </a:p>
        </p:txBody>
      </p:sp>
      <p:sp>
        <p:nvSpPr>
          <p:cNvPr id="5" name="Index bullets"/>
          <p:cNvSpPr txBox="1"/>
          <p:nvPr/>
        </p:nvSpPr>
        <p:spPr>
          <a:xfrm>
            <a:off x="640080" y="1600200"/>
            <a:ext cx="3657600" cy="2240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An index lets the engine find rows without reading the whole table</a:t>
            </a:r>
            <a:endParaRPr lang="en-US" sz="1300" dirty="0"/>
          </a:p>
          <a:p>
            <a:pPr marL="342900" indent="-342900">
              <a:spcAft>
                <a:spcPts val="600"/>
              </a:spcAft>
              <a:buSzPct val="100000"/>
              <a:buChar char="•"/>
            </a:pPr>
            <a:r>
              <a:rPr lang="en-US" sz="1300" dirty="0">
                <a:solidFill>
                  <a:schemeClr val="tx1"/>
                </a:solidFill>
              </a:rPr>
              <a:t>Firebird indexes primary, unique and foreign keys automatically</a:t>
            </a:r>
            <a:endParaRPr lang="en-US" sz="1300" dirty="0"/>
          </a:p>
          <a:p>
            <a:pPr marL="342900" indent="-342900">
              <a:spcAft>
                <a:spcPts val="600"/>
              </a:spcAft>
              <a:buSzPct val="100000"/>
              <a:buChar char="•"/>
            </a:pPr>
            <a:r>
              <a:rPr lang="en-US" sz="1300" dirty="0">
                <a:solidFill>
                  <a:schemeClr val="tx1"/>
                </a:solidFill>
              </a:rPr>
              <a:t>Extra indexes suit columns used often in WHERE, JOIN or ORDER BY</a:t>
            </a:r>
            <a:endParaRPr lang="en-US" sz="1300" dirty="0"/>
          </a:p>
          <a:p>
            <a:pPr marL="342900" indent="-342900">
              <a:spcAft>
                <a:spcPts val="600"/>
              </a:spcAft>
              <a:buSzPct val="100000"/>
              <a:buChar char="•"/>
            </a:pPr>
            <a:r>
              <a:rPr lang="en-US" sz="1300" dirty="0">
                <a:solidFill>
                  <a:schemeClr val="tx1"/>
                </a:solidFill>
              </a:rPr>
              <a:t>The query plan shows whether an index is used</a:t>
            </a:r>
            <a:endParaRPr lang="en-US" sz="1300" dirty="0"/>
          </a:p>
        </p:txBody>
      </p:sp>
      <p:sp>
        <p:nvSpPr>
          <p:cNvPr id="6" name="Views card"/>
          <p:cNvSpPr txBox="1"/>
          <p:nvPr/>
        </p:nvSpPr>
        <p:spPr>
          <a:xfrm>
            <a:off x="4663440" y="1188720"/>
            <a:ext cx="4023360" cy="2743200"/>
          </a:xfrm>
          <a:prstGeom prst="roundRect">
            <a:avLst>
              <a:gd name="adj" fmla="val 2667"/>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Views</a:t>
            </a:r>
            <a:endParaRPr lang="en-US" sz="1400" dirty="0"/>
          </a:p>
        </p:txBody>
      </p:sp>
      <p:sp>
        <p:nvSpPr>
          <p:cNvPr id="7" name="Views intro"/>
          <p:cNvSpPr txBox="1"/>
          <p:nvPr/>
        </p:nvSpPr>
        <p:spPr>
          <a:xfrm>
            <a:off x="4846320" y="1600200"/>
            <a:ext cx="3657600" cy="548640"/>
          </a:xfrm>
          <a:prstGeom prst="rect">
            <a:avLst/>
          </a:prstGeom>
          <a:noFill/>
          <a:ln/>
        </p:spPr>
        <p:txBody>
          <a:bodyPr wrap="square" lIns="0" tIns="0" rIns="0" bIns="0" rtlCol="0" anchor="t"/>
          <a:lstStyle/>
          <a:p>
            <a:pPr marL="0" indent="0">
              <a:buNone/>
            </a:pPr>
            <a:r>
              <a:rPr lang="en-US" sz="1300" dirty="0">
                <a:solidFill>
                  <a:schemeClr val="tx1"/>
                </a:solidFill>
              </a:rPr>
              <a:t>A view stores a query and is read like a table. Our database has three:</a:t>
            </a:r>
            <a:endParaRPr lang="en-US" sz="1300" dirty="0"/>
          </a:p>
        </p:txBody>
      </p:sp>
      <p:sp>
        <p:nvSpPr>
          <p:cNvPr id="8" name="View names"/>
          <p:cNvSpPr txBox="1"/>
          <p:nvPr/>
        </p:nvSpPr>
        <p:spPr>
          <a:xfrm>
            <a:off x="4846320" y="2194560"/>
            <a:ext cx="3657600" cy="1645920"/>
          </a:xfrm>
          <a:prstGeom prst="rect">
            <a:avLst/>
          </a:prstGeom>
          <a:noFill/>
          <a:ln/>
        </p:spPr>
        <p:txBody>
          <a:bodyPr wrap="square" lIns="0" tIns="0" rIns="0" bIns="0" rtlCol="0" anchor="t"/>
          <a:lstStyle/>
          <a:p>
            <a:pPr marL="0" indent="0">
              <a:spcAft>
                <a:spcPts val="400"/>
              </a:spcAft>
              <a:buNone/>
            </a:pPr>
            <a:r>
              <a:rPr lang="en-US" sz="1300" b="1" dirty="0">
                <a:solidFill>
                  <a:schemeClr val="accent3"/>
                </a:solidFill>
              </a:rPr>
              <a:t>V_PENDING_REQUESTS</a:t>
            </a:r>
            <a:endParaRPr lang="en-US" sz="1300" dirty="0"/>
          </a:p>
          <a:p>
            <a:pPr marL="0" indent="0">
              <a:spcAft>
                <a:spcPts val="400"/>
              </a:spcAft>
              <a:buNone/>
            </a:pPr>
            <a:r>
              <a:rPr lang="en-US" sz="1300" b="1" dirty="0">
                <a:solidFill>
                  <a:schemeClr val="accent3"/>
                </a:solidFill>
              </a:rPr>
              <a:t>V_INVENTORY_SUMMARY</a:t>
            </a:r>
            <a:endParaRPr lang="en-US" sz="1300" dirty="0"/>
          </a:p>
          <a:p>
            <a:pPr marL="0" indent="0">
              <a:spcAft>
                <a:spcPts val="600"/>
              </a:spcAft>
              <a:buNone/>
            </a:pPr>
            <a:r>
              <a:rPr lang="en-US" sz="1300" b="1" dirty="0">
                <a:solidFill>
                  <a:schemeClr val="accent3"/>
                </a:solidFill>
              </a:rPr>
              <a:t>V_DELIVERY_SUMMARY</a:t>
            </a:r>
            <a:endParaRPr lang="en-US" sz="1300" dirty="0"/>
          </a:p>
          <a:p>
            <a:pPr marL="0" indent="0">
              <a:spcAft>
                <a:spcPts val="400"/>
              </a:spcAft>
              <a:buNone/>
            </a:pPr>
            <a:r>
              <a:rPr lang="en-US" sz="1100" dirty="0">
                <a:solidFill>
                  <a:schemeClr val="tx1"/>
                </a:solidFill>
                <a:latin typeface="Courier New" pitchFamily="34" charset="0"/>
                <a:ea typeface="Courier New" pitchFamily="34" charset="-122"/>
                <a:cs typeface="Courier New" pitchFamily="34" charset="-120"/>
              </a:rPr>
              <a:t>SELECT * FROM V_PENDING_REQUESTS;</a:t>
            </a:r>
            <a:endParaRPr lang="en-US" sz="1300" dirty="0"/>
          </a:p>
        </p:txBody>
      </p:sp>
      <p:sp>
        <p:nvSpPr>
          <p:cNvPr id="9" name="Takeaway"/>
          <p:cNvSpPr txBox="1"/>
          <p:nvPr/>
        </p:nvSpPr>
        <p:spPr>
          <a:xfrm>
            <a:off x="457200" y="4114800"/>
            <a:ext cx="8229600" cy="502920"/>
          </a:xfrm>
          <a:prstGeom prst="roundRect">
            <a:avLst>
              <a:gd name="adj" fmla="val 14545"/>
            </a:avLst>
          </a:prstGeom>
          <a:solidFill>
            <a:schemeClr val="bg2"/>
          </a:solidFill>
          <a:ln/>
        </p:spPr>
        <p:txBody>
          <a:bodyPr wrap="square" lIns="50800" tIns="152400" rIns="152400" bIns="50800" rtlCol="0" anchor="ctr"/>
          <a:lstStyle/>
          <a:p>
            <a:pPr marL="0" indent="0">
              <a:buNone/>
            </a:pPr>
            <a:r>
              <a:rPr lang="en-US" sz="1400" b="1" dirty="0">
                <a:solidFill>
                  <a:schemeClr val="accent1"/>
                </a:solidFill>
              </a:rPr>
              <a:t>Why it matters: </a:t>
            </a:r>
            <a:r>
              <a:rPr lang="en-US" sz="1400" dirty="0">
                <a:solidFill>
                  <a:schemeClr val="tx1"/>
                </a:solidFill>
              </a:rPr>
              <a:t>indexes can speed suitable queries; views make common queries reusable.</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11</a:t>
            </a:fld>
            <a:endParaRPr lang="en-US"/>
          </a:p>
        </p:txBody>
      </p:sp>
      <p:sp>
        <p:nvSpPr>
          <p:cNvPr id="10" name="Rectangle 9">
            <a:extLst>
              <a:ext uri="{FF2B5EF4-FFF2-40B4-BE49-F238E27FC236}">
                <a16:creationId xmlns:a16="http://schemas.microsoft.com/office/drawing/2014/main" id="{F97E54AB-C03F-FD3B-AC02-216F8F8442C1}"/>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Stored Procedure and Trigger</a:t>
            </a:r>
            <a:endParaRPr lang="en-US" sz="3000" dirty="0"/>
          </a:p>
        </p:txBody>
      </p:sp>
      <p:sp>
        <p:nvSpPr>
          <p:cNvPr id="4" name="Procedure card"/>
          <p:cNvSpPr txBox="1"/>
          <p:nvPr/>
        </p:nvSpPr>
        <p:spPr>
          <a:xfrm>
            <a:off x="457200" y="1188720"/>
            <a:ext cx="4023360" cy="2743200"/>
          </a:xfrm>
          <a:prstGeom prst="roundRect">
            <a:avLst>
              <a:gd name="adj" fmla="val 2667"/>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Procedure: UPDATE_REQUEST_STATUS</a:t>
            </a:r>
            <a:endParaRPr lang="en-US" sz="1400" dirty="0"/>
          </a:p>
          <a:p>
            <a:pPr marL="0" indent="0" algn="l">
              <a:buNone/>
            </a:pPr>
            <a:r>
              <a:rPr lang="en-US" sz="1400" dirty="0">
                <a:solidFill>
                  <a:schemeClr val="tx1"/>
                </a:solidFill>
              </a:rPr>
              <a:t>Runs inside the database and changes the status of a relief request, so that update logic is kept in one place.</a:t>
            </a:r>
            <a:endParaRPr lang="en-US" sz="1400" dirty="0"/>
          </a:p>
        </p:txBody>
      </p:sp>
      <p:sp>
        <p:nvSpPr>
          <p:cNvPr id="5" name="Flow step Call procedure"/>
          <p:cNvSpPr txBox="1"/>
          <p:nvPr/>
        </p:nvSpPr>
        <p:spPr>
          <a:xfrm>
            <a:off x="640080" y="3017520"/>
            <a:ext cx="1691640" cy="685800"/>
          </a:xfrm>
          <a:prstGeom prst="roundRect">
            <a:avLst>
              <a:gd name="adj" fmla="val 8000"/>
            </a:avLst>
          </a:prstGeom>
          <a:solidFill>
            <a:srgbClr val="11141A"/>
          </a:solidFill>
          <a:ln w="12700">
            <a:solidFill>
              <a:schemeClr val="accent3"/>
            </a:solidFill>
          </a:ln>
        </p:spPr>
        <p:txBody>
          <a:bodyPr wrap="square" lIns="38100" tIns="38100" rIns="38100" bIns="38100" rtlCol="0" anchor="ctr"/>
          <a:lstStyle/>
          <a:p>
            <a:pPr marL="0" indent="0" algn="ctr">
              <a:buNone/>
            </a:pPr>
            <a:r>
              <a:rPr lang="en-US" sz="1200" dirty="0">
                <a:solidFill>
                  <a:schemeClr val="tx1"/>
                </a:solidFill>
              </a:rPr>
              <a:t>Call procedure</a:t>
            </a:r>
            <a:endParaRPr lang="en-US" sz="1200" dirty="0"/>
          </a:p>
        </p:txBody>
      </p:sp>
      <p:sp>
        <p:nvSpPr>
          <p:cNvPr id="6" name="Flow arrow"/>
          <p:cNvSpPr/>
          <p:nvPr/>
        </p:nvSpPr>
        <p:spPr>
          <a:xfrm>
            <a:off x="2331720" y="3360420"/>
            <a:ext cx="274320" cy="0"/>
          </a:xfrm>
          <a:prstGeom prst="line">
            <a:avLst/>
          </a:prstGeom>
          <a:noFill/>
          <a:ln w="25400">
            <a:solidFill>
              <a:schemeClr val="accent1"/>
            </a:solidFill>
            <a:prstDash val="solid"/>
            <a:tailEnd type="triangle"/>
          </a:ln>
        </p:spPr>
      </p:sp>
      <p:sp>
        <p:nvSpPr>
          <p:cNvPr id="7" name="Flow step Request status changed"/>
          <p:cNvSpPr txBox="1"/>
          <p:nvPr/>
        </p:nvSpPr>
        <p:spPr>
          <a:xfrm>
            <a:off x="2606040" y="3017520"/>
            <a:ext cx="1691640" cy="685800"/>
          </a:xfrm>
          <a:prstGeom prst="roundRect">
            <a:avLst>
              <a:gd name="adj" fmla="val 8000"/>
            </a:avLst>
          </a:prstGeom>
          <a:solidFill>
            <a:srgbClr val="11141A"/>
          </a:solidFill>
          <a:ln w="12700">
            <a:solidFill>
              <a:schemeClr val="accent3"/>
            </a:solidFill>
          </a:ln>
        </p:spPr>
        <p:txBody>
          <a:bodyPr wrap="square" lIns="38100" tIns="38100" rIns="38100" bIns="38100" rtlCol="0" anchor="ctr"/>
          <a:lstStyle/>
          <a:p>
            <a:pPr marL="0" indent="0" algn="ctr">
              <a:buNone/>
            </a:pPr>
            <a:r>
              <a:rPr lang="en-US" sz="1200" dirty="0">
                <a:solidFill>
                  <a:schemeClr val="tx1"/>
                </a:solidFill>
              </a:rPr>
              <a:t>Request status changed</a:t>
            </a:r>
            <a:endParaRPr lang="en-US" sz="1200" dirty="0"/>
          </a:p>
        </p:txBody>
      </p:sp>
      <p:sp>
        <p:nvSpPr>
          <p:cNvPr id="8" name="Trigger card"/>
          <p:cNvSpPr txBox="1"/>
          <p:nvPr/>
        </p:nvSpPr>
        <p:spPr>
          <a:xfrm>
            <a:off x="4663440" y="1188720"/>
            <a:ext cx="4023360" cy="2743200"/>
          </a:xfrm>
          <a:prstGeom prst="roundRect">
            <a:avLst>
              <a:gd name="adj" fmla="val 2667"/>
            </a:avLst>
          </a:prstGeom>
          <a:solidFill>
            <a:schemeClr val="bg2"/>
          </a:solidFill>
          <a:ln/>
        </p:spPr>
        <p:txBody>
          <a:bodyPr wrap="square" lIns="127000" tIns="127000" rIns="127000" bIns="127000" rtlCol="0" anchor="t"/>
          <a:lstStyle/>
          <a:p>
            <a:pPr marL="0" indent="0" algn="l">
              <a:spcAft>
                <a:spcPts val="400"/>
              </a:spcAft>
              <a:buNone/>
            </a:pPr>
            <a:r>
              <a:rPr lang="en-US" sz="1400" b="1" dirty="0">
                <a:solidFill>
                  <a:schemeClr val="accent2"/>
                </a:solidFill>
              </a:rPr>
              <a:t>Trigger: BI_DELIVERY_ITEM_STOCK</a:t>
            </a:r>
            <a:endParaRPr lang="en-US" sz="1400" dirty="0"/>
          </a:p>
          <a:p>
            <a:pPr marL="0" indent="0" algn="l">
              <a:buNone/>
            </a:pPr>
            <a:r>
              <a:rPr lang="en-US" sz="1400" dirty="0">
                <a:solidFill>
                  <a:schemeClr val="tx1"/>
                </a:solidFill>
              </a:rPr>
              <a:t>Fires automatically when a delivery item is inserted and updates the matching inventory stock.</a:t>
            </a:r>
            <a:endParaRPr lang="en-US" sz="1400" dirty="0"/>
          </a:p>
        </p:txBody>
      </p:sp>
      <p:sp>
        <p:nvSpPr>
          <p:cNvPr id="9" name="Flow step Insert delivery item"/>
          <p:cNvSpPr txBox="1"/>
          <p:nvPr/>
        </p:nvSpPr>
        <p:spPr>
          <a:xfrm>
            <a:off x="4846320" y="3017520"/>
            <a:ext cx="1036320" cy="685800"/>
          </a:xfrm>
          <a:prstGeom prst="roundRect">
            <a:avLst>
              <a:gd name="adj" fmla="val 8000"/>
            </a:avLst>
          </a:prstGeom>
          <a:solidFill>
            <a:srgbClr val="11141A"/>
          </a:solidFill>
          <a:ln w="12700">
            <a:solidFill>
              <a:schemeClr val="accent3"/>
            </a:solidFill>
          </a:ln>
        </p:spPr>
        <p:txBody>
          <a:bodyPr wrap="square" lIns="38100" tIns="38100" rIns="38100" bIns="38100" rtlCol="0" anchor="ctr"/>
          <a:lstStyle/>
          <a:p>
            <a:pPr marL="0" indent="0" algn="ctr">
              <a:buNone/>
            </a:pPr>
            <a:r>
              <a:rPr lang="en-US" sz="1200" dirty="0">
                <a:solidFill>
                  <a:schemeClr val="tx1"/>
                </a:solidFill>
              </a:rPr>
              <a:t>Insert delivery item</a:t>
            </a:r>
            <a:endParaRPr lang="en-US" sz="1200" dirty="0"/>
          </a:p>
        </p:txBody>
      </p:sp>
      <p:sp>
        <p:nvSpPr>
          <p:cNvPr id="10" name="Flow arrow"/>
          <p:cNvSpPr/>
          <p:nvPr/>
        </p:nvSpPr>
        <p:spPr>
          <a:xfrm>
            <a:off x="5882640" y="3360420"/>
            <a:ext cx="274320" cy="0"/>
          </a:xfrm>
          <a:prstGeom prst="line">
            <a:avLst/>
          </a:prstGeom>
          <a:noFill/>
          <a:ln w="25400">
            <a:solidFill>
              <a:schemeClr val="accent1"/>
            </a:solidFill>
            <a:prstDash val="solid"/>
            <a:tailEnd type="triangle"/>
          </a:ln>
        </p:spPr>
      </p:sp>
      <p:sp>
        <p:nvSpPr>
          <p:cNvPr id="11" name="Flow step Trigger fires"/>
          <p:cNvSpPr txBox="1"/>
          <p:nvPr/>
        </p:nvSpPr>
        <p:spPr>
          <a:xfrm>
            <a:off x="6156960" y="3017520"/>
            <a:ext cx="1036320" cy="685800"/>
          </a:xfrm>
          <a:prstGeom prst="roundRect">
            <a:avLst>
              <a:gd name="adj" fmla="val 8000"/>
            </a:avLst>
          </a:prstGeom>
          <a:solidFill>
            <a:srgbClr val="11141A"/>
          </a:solidFill>
          <a:ln w="12700">
            <a:solidFill>
              <a:schemeClr val="accent3"/>
            </a:solidFill>
          </a:ln>
        </p:spPr>
        <p:txBody>
          <a:bodyPr wrap="square" lIns="38100" tIns="38100" rIns="38100" bIns="38100" rtlCol="0" anchor="ctr"/>
          <a:lstStyle/>
          <a:p>
            <a:pPr marL="0" indent="0" algn="ctr">
              <a:buNone/>
            </a:pPr>
            <a:r>
              <a:rPr lang="en-US" sz="1200" dirty="0">
                <a:solidFill>
                  <a:schemeClr val="tx1"/>
                </a:solidFill>
              </a:rPr>
              <a:t>Trigger fires</a:t>
            </a:r>
            <a:endParaRPr lang="en-US" sz="1200" dirty="0"/>
          </a:p>
        </p:txBody>
      </p:sp>
      <p:sp>
        <p:nvSpPr>
          <p:cNvPr id="12" name="Flow arrow"/>
          <p:cNvSpPr/>
          <p:nvPr/>
        </p:nvSpPr>
        <p:spPr>
          <a:xfrm>
            <a:off x="7193280" y="3360420"/>
            <a:ext cx="274320" cy="0"/>
          </a:xfrm>
          <a:prstGeom prst="line">
            <a:avLst/>
          </a:prstGeom>
          <a:noFill/>
          <a:ln w="25400">
            <a:solidFill>
              <a:schemeClr val="accent1"/>
            </a:solidFill>
            <a:prstDash val="solid"/>
            <a:tailEnd type="triangle"/>
          </a:ln>
        </p:spPr>
      </p:sp>
      <p:sp>
        <p:nvSpPr>
          <p:cNvPr id="13" name="Flow step Inventory updated"/>
          <p:cNvSpPr txBox="1"/>
          <p:nvPr/>
        </p:nvSpPr>
        <p:spPr>
          <a:xfrm>
            <a:off x="7467600" y="3017520"/>
            <a:ext cx="1036320" cy="685800"/>
          </a:xfrm>
          <a:prstGeom prst="roundRect">
            <a:avLst>
              <a:gd name="adj" fmla="val 8000"/>
            </a:avLst>
          </a:prstGeom>
          <a:solidFill>
            <a:srgbClr val="11141A"/>
          </a:solidFill>
          <a:ln w="12700">
            <a:solidFill>
              <a:schemeClr val="accent3"/>
            </a:solidFill>
          </a:ln>
        </p:spPr>
        <p:txBody>
          <a:bodyPr wrap="square" lIns="38100" tIns="38100" rIns="38100" bIns="38100" rtlCol="0" anchor="ctr"/>
          <a:lstStyle/>
          <a:p>
            <a:pPr marL="0" indent="0" algn="ctr">
              <a:buNone/>
            </a:pPr>
            <a:r>
              <a:rPr lang="en-US" sz="1200" dirty="0">
                <a:solidFill>
                  <a:schemeClr val="tx1"/>
                </a:solidFill>
              </a:rPr>
              <a:t>Inventory updated</a:t>
            </a:r>
            <a:endParaRPr lang="en-US" sz="1200" dirty="0"/>
          </a:p>
        </p:txBody>
      </p:sp>
      <p:sp>
        <p:nvSpPr>
          <p:cNvPr id="14" name="Takeaway"/>
          <p:cNvSpPr txBox="1"/>
          <p:nvPr/>
        </p:nvSpPr>
        <p:spPr>
          <a:xfrm>
            <a:off x="457200" y="4114800"/>
            <a:ext cx="8229600" cy="502920"/>
          </a:xfrm>
          <a:prstGeom prst="roundRect">
            <a:avLst>
              <a:gd name="adj" fmla="val 14545"/>
            </a:avLst>
          </a:prstGeom>
          <a:solidFill>
            <a:schemeClr val="bg2"/>
          </a:solidFill>
          <a:ln/>
        </p:spPr>
        <p:txBody>
          <a:bodyPr wrap="square" lIns="50800" tIns="152400" rIns="152400" bIns="50800" rtlCol="0" anchor="ctr"/>
          <a:lstStyle/>
          <a:p>
            <a:pPr marL="0" indent="0">
              <a:buNone/>
            </a:pPr>
            <a:r>
              <a:rPr lang="en-US" sz="1400" b="1" dirty="0">
                <a:solidFill>
                  <a:schemeClr val="accent1"/>
                </a:solidFill>
              </a:rPr>
              <a:t>Why it matters: </a:t>
            </a:r>
            <a:r>
              <a:rPr lang="en-US" sz="1400" dirty="0">
                <a:solidFill>
                  <a:schemeClr val="tx1"/>
                </a:solidFill>
              </a:rPr>
              <a:t>rules in the database apply to every client, not just one application.</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12</a:t>
            </a:fld>
            <a:endParaRPr lang="en-US"/>
          </a:p>
        </p:txBody>
      </p:sp>
      <p:sp>
        <p:nvSpPr>
          <p:cNvPr id="15" name="Rectangle 14">
            <a:extLst>
              <a:ext uri="{FF2B5EF4-FFF2-40B4-BE49-F238E27FC236}">
                <a16:creationId xmlns:a16="http://schemas.microsoft.com/office/drawing/2014/main" id="{F140B461-6926-3B25-DCA8-D9D1FB1D7B9C}"/>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ag"/>
          <p:cNvSpPr txBox="1"/>
          <p:nvPr/>
        </p:nvSpPr>
        <p:spPr>
          <a:xfrm>
            <a:off x="457200" y="182880"/>
            <a:ext cx="64008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E  |  WRAP-UP</a:t>
            </a:r>
            <a:endParaRPr lang="en-US" sz="1100" dirty="0"/>
          </a:p>
        </p:txBody>
      </p:sp>
      <p:sp>
        <p:nvSpPr>
          <p:cNvPr id="3" name="Title"/>
          <p:cNvSpPr txBox="1"/>
          <p:nvPr/>
        </p:nvSpPr>
        <p:spPr>
          <a:xfrm>
            <a:off x="457200" y="457200"/>
            <a:ext cx="8229600" cy="59436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References</a:t>
            </a:r>
            <a:endParaRPr lang="en-US" sz="3000" dirty="0"/>
          </a:p>
        </p:txBody>
      </p:sp>
      <p:sp>
        <p:nvSpPr>
          <p:cNvPr id="4" name="Reference list"/>
          <p:cNvSpPr txBox="1"/>
          <p:nvPr/>
        </p:nvSpPr>
        <p:spPr>
          <a:xfrm>
            <a:off x="457200" y="1188720"/>
            <a:ext cx="8229600" cy="3474720"/>
          </a:xfrm>
          <a:prstGeom prst="rect">
            <a:avLst/>
          </a:prstGeom>
          <a:noFill/>
          <a:ln/>
        </p:spPr>
        <p:txBody>
          <a:bodyPr wrap="square" lIns="0" tIns="0" rIns="0" bIns="0" rtlCol="0" anchor="t"/>
          <a:lstStyle/>
          <a:p>
            <a:pPr marL="0" indent="0">
              <a:buNone/>
            </a:pPr>
            <a:r>
              <a:rPr lang="en-US" sz="1050" b="1" dirty="0">
                <a:solidFill>
                  <a:schemeClr val="tx1"/>
                </a:solidFill>
              </a:rPr>
              <a:t>Firebird Foundation retrospective  </a:t>
            </a:r>
            <a:r>
              <a:rPr lang="en-US" sz="1050" u="sng" dirty="0">
                <a:solidFill>
                  <a:schemeClr val="accent3"/>
                </a:solidFill>
                <a:hlinkClick r:id="rId3">
                  <a:extLst>
                    <a:ext uri="{A12FA001-AC4F-418D-AE19-62706E023703}">
                      <ahyp:hlinkClr xmlns:ahyp="http://schemas.microsoft.com/office/drawing/2018/hyperlinkcolor" val="tx"/>
                    </a:ext>
                  </a:extLst>
                </a:hlinkClick>
              </a:rPr>
              <a:t>firebirdsql.org/en/firebird-foundation-retrospective/</a:t>
            </a:r>
            <a:endParaRPr lang="en-US" sz="1050" dirty="0"/>
          </a:p>
          <a:p>
            <a:pPr marL="0" indent="0">
              <a:buNone/>
            </a:pPr>
            <a:r>
              <a:rPr lang="en-US" sz="1050" b="1" dirty="0">
                <a:solidFill>
                  <a:schemeClr val="tx1"/>
                </a:solidFill>
              </a:rPr>
              <a:t>Firebird Enterprise Whitepaper: Software Release History  </a:t>
            </a:r>
            <a:r>
              <a:rPr lang="en-US" sz="1050" u="sng" dirty="0">
                <a:solidFill>
                  <a:schemeClr val="accent3"/>
                </a:solidFill>
                <a:hlinkClick r:id="rId4">
                  <a:extLst>
                    <a:ext uri="{A12FA001-AC4F-418D-AE19-62706E023703}">
                      <ahyp:hlinkClr xmlns:ahyp="http://schemas.microsoft.com/office/drawing/2018/hyperlinkcolor" val="tx"/>
                    </a:ext>
                  </a:extLst>
                </a:hlinkClick>
              </a:rPr>
              <a:t>firebirdsql.org/file/documentation/papers_presentations/html/paper-fbent-history.html</a:t>
            </a:r>
            <a:endParaRPr lang="en-US" sz="1050" dirty="0"/>
          </a:p>
          <a:p>
            <a:pPr marL="0" indent="0">
              <a:buNone/>
            </a:pPr>
            <a:r>
              <a:rPr lang="en-US" sz="1050" b="1" dirty="0">
                <a:solidFill>
                  <a:schemeClr val="tx1"/>
                </a:solidFill>
              </a:rPr>
              <a:t>Firebird Enterprise Whitepaper: Who Uses Firebird?  </a:t>
            </a:r>
            <a:r>
              <a:rPr lang="en-US" sz="1050" u="sng" dirty="0">
                <a:solidFill>
                  <a:schemeClr val="accent3"/>
                </a:solidFill>
                <a:hlinkClick r:id="rId5">
                  <a:extLst>
                    <a:ext uri="{A12FA001-AC4F-418D-AE19-62706E023703}">
                      <ahyp:hlinkClr xmlns:ahyp="http://schemas.microsoft.com/office/drawing/2018/hyperlinkcolor" val="tx"/>
                    </a:ext>
                  </a:extLst>
                </a:hlinkClick>
              </a:rPr>
              <a:t>firebirdsql.org/file/documentation/papers_presentations/html/who-uses.html</a:t>
            </a:r>
            <a:endParaRPr lang="en-US" sz="1050" dirty="0"/>
          </a:p>
          <a:p>
            <a:pPr marL="0" indent="0">
              <a:buNone/>
            </a:pPr>
            <a:r>
              <a:rPr lang="en-US" sz="1050" b="1" dirty="0">
                <a:solidFill>
                  <a:schemeClr val="tx1"/>
                </a:solidFill>
              </a:rPr>
              <a:t>Firebird licensing  </a:t>
            </a:r>
            <a:r>
              <a:rPr lang="en-US" sz="1050" u="sng" dirty="0">
                <a:solidFill>
                  <a:schemeClr val="accent3"/>
                </a:solidFill>
                <a:hlinkClick r:id="rId6">
                  <a:extLst>
                    <a:ext uri="{A12FA001-AC4F-418D-AE19-62706E023703}">
                      <ahyp:hlinkClr xmlns:ahyp="http://schemas.microsoft.com/office/drawing/2018/hyperlinkcolor" val="tx"/>
                    </a:ext>
                  </a:extLst>
                </a:hlinkClick>
              </a:rPr>
              <a:t>firebirdsql.org/en/licensing/</a:t>
            </a:r>
            <a:endParaRPr lang="en-US" sz="1050" dirty="0"/>
          </a:p>
          <a:p>
            <a:pPr marL="0" indent="0">
              <a:buNone/>
            </a:pPr>
            <a:r>
              <a:rPr lang="en-US" sz="1050" b="1" dirty="0">
                <a:solidFill>
                  <a:schemeClr val="tx1"/>
                </a:solidFill>
              </a:rPr>
              <a:t>Firebird 3.0 Release Notes  </a:t>
            </a:r>
            <a:r>
              <a:rPr lang="en-US" sz="1050" u="sng" dirty="0">
                <a:solidFill>
                  <a:schemeClr val="accent3"/>
                </a:solidFill>
                <a:hlinkClick r:id="rId7">
                  <a:extLst>
                    <a:ext uri="{A12FA001-AC4F-418D-AE19-62706E023703}">
                      <ahyp:hlinkClr xmlns:ahyp="http://schemas.microsoft.com/office/drawing/2018/hyperlinkcolor" val="tx"/>
                    </a:ext>
                  </a:extLst>
                </a:hlinkClick>
              </a:rPr>
              <a:t>firebirdsql.org/file/documentation/release_notes/html/en/3_0/rlsnotes30.html</a:t>
            </a:r>
            <a:endParaRPr lang="en-US" sz="1050" dirty="0"/>
          </a:p>
          <a:p>
            <a:pPr marL="0" indent="0">
              <a:buNone/>
            </a:pPr>
            <a:r>
              <a:rPr lang="en-US" sz="1050" b="1" dirty="0">
                <a:solidFill>
                  <a:schemeClr val="tx1"/>
                </a:solidFill>
              </a:rPr>
              <a:t>Firebird 4.0 Release Notes  </a:t>
            </a:r>
            <a:r>
              <a:rPr lang="en-US" sz="1050" u="sng" dirty="0">
                <a:solidFill>
                  <a:schemeClr val="accent3"/>
                </a:solidFill>
                <a:hlinkClick r:id="rId8">
                  <a:extLst>
                    <a:ext uri="{A12FA001-AC4F-418D-AE19-62706E023703}">
                      <ahyp:hlinkClr xmlns:ahyp="http://schemas.microsoft.com/office/drawing/2018/hyperlinkcolor" val="tx"/>
                    </a:ext>
                  </a:extLst>
                </a:hlinkClick>
              </a:rPr>
              <a:t>firebirdsql.org/file/documentation/release_notes/html/en/4_0/rlsnotes40.html</a:t>
            </a:r>
            <a:endParaRPr lang="en-US" sz="1050" dirty="0"/>
          </a:p>
          <a:p>
            <a:pPr marL="0" indent="0">
              <a:buNone/>
            </a:pPr>
            <a:r>
              <a:rPr lang="en-US" sz="1050" b="1" dirty="0">
                <a:solidFill>
                  <a:schemeClr val="tx1"/>
                </a:solidFill>
              </a:rPr>
              <a:t>Firebird 5.0 Release Notes  </a:t>
            </a:r>
            <a:r>
              <a:rPr lang="en-US" sz="1050" u="sng" dirty="0">
                <a:solidFill>
                  <a:schemeClr val="accent3"/>
                </a:solidFill>
                <a:hlinkClick r:id="rId9">
                  <a:extLst>
                    <a:ext uri="{A12FA001-AC4F-418D-AE19-62706E023703}">
                      <ahyp:hlinkClr xmlns:ahyp="http://schemas.microsoft.com/office/drawing/2018/hyperlinkcolor" val="tx"/>
                    </a:ext>
                  </a:extLst>
                </a:hlinkClick>
              </a:rPr>
              <a:t>firebirdsql.org/file/documentation/release_notes/html/en/5_0/rlsnotes50.html</a:t>
            </a:r>
            <a:endParaRPr lang="en-US" sz="1050" dirty="0"/>
          </a:p>
          <a:p>
            <a:pPr marL="0" indent="0">
              <a:buNone/>
            </a:pPr>
            <a:r>
              <a:rPr lang="en-US" sz="1050" b="1" dirty="0">
                <a:solidFill>
                  <a:schemeClr val="tx1"/>
                </a:solidFill>
              </a:rPr>
              <a:t>Firebird 5.0 Language Reference: Tables  </a:t>
            </a:r>
            <a:r>
              <a:rPr lang="en-US" sz="1050" u="sng" dirty="0">
                <a:solidFill>
                  <a:schemeClr val="accent3"/>
                </a:solidFill>
                <a:hlinkClick r:id="rId10">
                  <a:extLst>
                    <a:ext uri="{A12FA001-AC4F-418D-AE19-62706E023703}">
                      <ahyp:hlinkClr xmlns:ahyp="http://schemas.microsoft.com/office/drawing/2018/hyperlinkcolor" val="tx"/>
                    </a:ext>
                  </a:extLst>
                </a:hlinkClick>
              </a:rPr>
              <a:t>firebirdsql.org/file/documentation/chunk/en/refdocs/fblangref50/fblangref50-ddl-table.html</a:t>
            </a:r>
            <a:endParaRPr lang="en-US" sz="1050" dirty="0"/>
          </a:p>
          <a:p>
            <a:pPr marL="0" indent="0">
              <a:buNone/>
            </a:pPr>
            <a:r>
              <a:rPr lang="en-US" sz="1050" b="1" dirty="0">
                <a:solidFill>
                  <a:schemeClr val="tx1"/>
                </a:solidFill>
              </a:rPr>
              <a:t>Firebird 6.0 roadmap  </a:t>
            </a:r>
            <a:r>
              <a:rPr lang="en-US" sz="1050" u="sng" dirty="0">
                <a:solidFill>
                  <a:schemeClr val="accent3"/>
                </a:solidFill>
                <a:hlinkClick r:id="rId11">
                  <a:extLst>
                    <a:ext uri="{A12FA001-AC4F-418D-AE19-62706E023703}">
                      <ahyp:hlinkClr xmlns:ahyp="http://schemas.microsoft.com/office/drawing/2018/hyperlinkcolor" val="tx"/>
                    </a:ext>
                  </a:extLst>
                </a:hlinkClick>
              </a:rPr>
              <a:t>firebirdsql.org/en/roadmap-v6/</a:t>
            </a:r>
            <a:endParaRPr lang="en-US" sz="1050" dirty="0"/>
          </a:p>
          <a:p>
            <a:pPr marL="0" indent="0">
              <a:buNone/>
            </a:pPr>
            <a:r>
              <a:rPr lang="en-US" sz="1050" b="1" dirty="0">
                <a:solidFill>
                  <a:schemeClr val="tx1"/>
                </a:solidFill>
              </a:rPr>
              <a:t>Firebird gbak manual  </a:t>
            </a:r>
            <a:r>
              <a:rPr lang="en-US" sz="1050" u="sng" dirty="0">
                <a:solidFill>
                  <a:schemeClr val="accent3"/>
                </a:solidFill>
                <a:hlinkClick r:id="rId12">
                  <a:extLst>
                    <a:ext uri="{A12FA001-AC4F-418D-AE19-62706E023703}">
                      <ahyp:hlinkClr xmlns:ahyp="http://schemas.microsoft.com/office/drawing/2018/hyperlinkcolor" val="tx"/>
                    </a:ext>
                  </a:extLst>
                </a:hlinkClick>
              </a:rPr>
              <a:t>firebirdsql.org/manual/gbak.html</a:t>
            </a:r>
            <a:endParaRPr lang="en-US" sz="1050" dirty="0"/>
          </a:p>
          <a:p>
            <a:pPr marL="0" indent="0">
              <a:buNone/>
            </a:pPr>
            <a:r>
              <a:rPr lang="en-US" sz="1050" b="1" dirty="0">
                <a:solidFill>
                  <a:schemeClr val="tx1"/>
                </a:solidFill>
              </a:rPr>
              <a:t>MySQL licensing (Oracle)  </a:t>
            </a:r>
            <a:r>
              <a:rPr lang="en-US" sz="1050" u="sng" dirty="0">
                <a:solidFill>
                  <a:schemeClr val="accent3"/>
                </a:solidFill>
                <a:hlinkClick r:id="rId13">
                  <a:extLst>
                    <a:ext uri="{A12FA001-AC4F-418D-AE19-62706E023703}">
                      <ahyp:hlinkClr xmlns:ahyp="http://schemas.microsoft.com/office/drawing/2018/hyperlinkcolor" val="tx"/>
                    </a:ext>
                  </a:extLst>
                </a:hlinkClick>
              </a:rPr>
              <a:t>mysql.com/about/legal/licensing/oem/</a:t>
            </a:r>
            <a:endParaRPr lang="en-US" sz="1050" dirty="0"/>
          </a:p>
          <a:p>
            <a:pPr marL="0" indent="0">
              <a:buNone/>
            </a:pPr>
            <a:r>
              <a:rPr lang="en-US" sz="1050" b="1" dirty="0">
                <a:solidFill>
                  <a:schemeClr val="tx1"/>
                </a:solidFill>
              </a:rPr>
              <a:t>MySQL 8.0 Reference Manual: InnoDB Multi-Versioning  </a:t>
            </a:r>
            <a:r>
              <a:rPr lang="en-US" sz="1050" u="sng" dirty="0">
                <a:solidFill>
                  <a:schemeClr val="accent3"/>
                </a:solidFill>
                <a:hlinkClick r:id="rId14">
                  <a:extLst>
                    <a:ext uri="{A12FA001-AC4F-418D-AE19-62706E023703}">
                      <ahyp:hlinkClr xmlns:ahyp="http://schemas.microsoft.com/office/drawing/2018/hyperlinkcolor" val="tx"/>
                    </a:ext>
                  </a:extLst>
                </a:hlinkClick>
              </a:rPr>
              <a:t>dev.mysql.com/doc/refman/8.0/en/innodb-multi-versioning.html</a:t>
            </a:r>
            <a:endParaRPr lang="en-US" sz="1050" dirty="0"/>
          </a:p>
          <a:p>
            <a:pPr marL="0" indent="0">
              <a:buNone/>
            </a:pPr>
            <a:r>
              <a:rPr lang="en-US" sz="1050" b="1" dirty="0">
                <a:solidFill>
                  <a:schemeClr val="tx1"/>
                </a:solidFill>
              </a:rPr>
              <a:t>MySQL blog: MySQL 8.0 Retiring Support for libmysqld  </a:t>
            </a:r>
            <a:r>
              <a:rPr lang="en-US" sz="1050" u="sng" dirty="0">
                <a:solidFill>
                  <a:schemeClr val="accent3"/>
                </a:solidFill>
                <a:hlinkClick r:id="rId15">
                  <a:extLst>
                    <a:ext uri="{A12FA001-AC4F-418D-AE19-62706E023703}">
                      <ahyp:hlinkClr xmlns:ahyp="http://schemas.microsoft.com/office/drawing/2018/hyperlinkcolor" val="tx"/>
                    </a:ext>
                  </a:extLst>
                </a:hlinkClick>
              </a:rPr>
              <a:t>dev.mysql.com/blog-archive/mysql-8-0-retiring-support-for-libmysqld/</a:t>
            </a:r>
            <a:endParaRPr lang="en-US" sz="10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4"/>
                </a:solidFill>
              </a:defRPr>
            </a:lvl1pPr>
          </a:lstStyle>
          <a:p>
            <a:pPr algn="r"/>
            <a:fld id="{F7021451-1387-4CA6-816F-3879F97B5CBC}" type="slidenum">
              <a:rPr lang="en-US" b="0"/>
              <a:t>13</a:t>
            </a:fld>
            <a:endParaRPr lang="en-US"/>
          </a:p>
        </p:txBody>
      </p:sp>
      <p:sp>
        <p:nvSpPr>
          <p:cNvPr id="6" name="Rectangle 5">
            <a:extLst>
              <a:ext uri="{FF2B5EF4-FFF2-40B4-BE49-F238E27FC236}">
                <a16:creationId xmlns:a16="http://schemas.microsoft.com/office/drawing/2014/main" id="{36AD718A-8D29-1778-FF0B-A8CA0677D74D}"/>
              </a:ext>
            </a:extLst>
          </p:cNvPr>
          <p:cNvSpPr/>
          <p:nvPr/>
        </p:nvSpPr>
        <p:spPr>
          <a:xfrm>
            <a:off x="0" y="4688732"/>
            <a:ext cx="9144000" cy="454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Firebird Relief Dark">
  <a:themeElements>
    <a:clrScheme name="Firebird Relief Dark">
      <a:dk1>
        <a:srgbClr val="E8EAED"/>
      </a:dk1>
      <a:lt1>
        <a:srgbClr val="11141A"/>
      </a:lt1>
      <a:dk2>
        <a:srgbClr val="9AA3AF"/>
      </a:dk2>
      <a:lt2>
        <a:srgbClr val="1B2029"/>
      </a:lt2>
      <a:accent1>
        <a:srgbClr val="FF6A2B"/>
      </a:accent1>
      <a:accent2>
        <a:srgbClr val="FFB347"/>
      </a:accent2>
      <a:accent3>
        <a:srgbClr val="4FD1C5"/>
      </a:accent3>
      <a:accent4>
        <a:srgbClr val="7C9CFF"/>
      </a:accent4>
      <a:accent5>
        <a:srgbClr val="C792EA"/>
      </a:accent5>
      <a:accent6>
        <a:srgbClr val="8BD17C"/>
      </a:accent6>
      <a:hlink>
        <a:srgbClr val="4FD1C5"/>
      </a:hlink>
      <a:folHlink>
        <a:srgbClr val="C792EA"/>
      </a:folHlink>
    </a:clrScheme>
    <a:fontScheme name="Firebird Relief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2644</Words>
  <Application>Microsoft Office PowerPoint</Application>
  <PresentationFormat>On-screen Show (16:9)</PresentationFormat>
  <Paragraphs>226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Firebird Relief 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Implementation of a Disaster Relief Resource Management Database Using Firebird RDBMS</dc:title>
  <dc:subject>PptxGenJS Presentation</dc:subject>
  <dc:creator>Project team</dc:creator>
  <cp:lastModifiedBy>Dheva Dharshan</cp:lastModifiedBy>
  <cp:revision>6</cp:revision>
  <dcterms:created xsi:type="dcterms:W3CDTF">2026-10-22T11:57:13Z</dcterms:created>
  <dcterms:modified xsi:type="dcterms:W3CDTF">2026-10-26T08:23:55Z</dcterms:modified>
</cp:coreProperties>
</file>